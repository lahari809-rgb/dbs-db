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0693400" cy="15138400"/>
  <p:notesSz cx="15138400" cy="10693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418" y="-56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1737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https://ai.google.dev/edge/mediapipe/solutions/vision/hand_landmarker" TargetMode="Externa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3908" cy="19202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20040"/>
            <a:ext cx="12801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3200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KLH Logo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228600"/>
            <a:ext cx="84079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3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LANGUAGE TRANSLATOR</a:t>
            </a:r>
            <a:endParaRPr lang="en-US" sz="3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ID: 5  |  Section: S12  |  Members: </a:t>
            </a:r>
            <a:r>
              <a:rPr lang="en-US" sz="1350" dirty="0" err="1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Allamsetti</a:t>
            </a:r>
            <a:r>
              <a:rPr lang="en-US" sz="13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Lahari– 2520090004, Devaji Rashmika – 2520090152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 Guide: Dr. Khaja shareef</a:t>
            </a:r>
            <a:endParaRPr lang="en-US" sz="3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and Distributed Backend Development (25CS1302E)  |  KLH Bachupally Campus, CSE  |  PBL 2026-27</a:t>
            </a:r>
            <a:endParaRPr lang="en-US" sz="335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4844034" cy="1645920"/>
          </a:xfrm>
          <a:prstGeom prst="roundRect">
            <a:avLst>
              <a:gd name="adj" fmla="val 4167"/>
            </a:avLst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560320"/>
            <a:ext cx="45697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en-IN" sz="1400" b="1" dirty="0"/>
              <a:t>Sign Language Translator:</a:t>
            </a:r>
            <a:r>
              <a:rPr lang="en-IN" sz="1400" dirty="0"/>
              <a:t> A real-time system that detects one- or two-hand gestures and converts them into text using Python, </a:t>
            </a:r>
            <a:r>
              <a:rPr lang="en-IN" sz="1400" dirty="0" err="1"/>
              <a:t>FastAPI</a:t>
            </a:r>
            <a:r>
              <a:rPr lang="en-IN" sz="1400" dirty="0"/>
              <a:t>, OpenCV, </a:t>
            </a:r>
            <a:r>
              <a:rPr lang="en-IN" sz="1400" dirty="0" err="1"/>
              <a:t>MediaPipe</a:t>
            </a:r>
            <a:r>
              <a:rPr lang="en-IN" sz="1400" dirty="0"/>
              <a:t>, and ML. </a:t>
            </a:r>
          </a:p>
          <a:p>
            <a:pPr lvl="0"/>
            <a:r>
              <a:rPr lang="en-IN" sz="1400" b="1" dirty="0"/>
              <a:t>Outcome:</a:t>
            </a:r>
            <a:r>
              <a:rPr lang="en-IN" sz="1400" dirty="0"/>
              <a:t> Enables faster and accessible communication through real-time sign-to-text translation</a:t>
            </a:r>
          </a:p>
        </p:txBody>
      </p:sp>
      <p:sp>
        <p:nvSpPr>
          <p:cNvPr id="9" name="Shape 7"/>
          <p:cNvSpPr/>
          <p:nvPr/>
        </p:nvSpPr>
        <p:spPr>
          <a:xfrm>
            <a:off x="365760" y="388620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FCE7F3"/>
          </a:solidFill>
          <a:ln w="9525">
            <a:solidFill>
              <a:srgbClr val="BE185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397764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4251960"/>
            <a:ext cx="4617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en-IN" sz="1400" b="1" dirty="0"/>
              <a:t>Problem:</a:t>
            </a:r>
            <a:r>
              <a:rPr lang="en-IN" sz="1400" dirty="0"/>
              <a:t> Existing communication methods can make real-time interaction difficult for people who use sign language. </a:t>
            </a:r>
          </a:p>
          <a:p>
            <a:pPr lvl="0"/>
            <a:r>
              <a:rPr lang="en-IN" sz="1400" b="1" dirty="0"/>
              <a:t>Objective 1:</a:t>
            </a:r>
            <a:r>
              <a:rPr lang="en-IN" sz="1400" dirty="0"/>
              <a:t> Detect one- and two-hand sign language gestures continuously. </a:t>
            </a:r>
          </a:p>
          <a:p>
            <a:pPr lvl="0"/>
            <a:r>
              <a:rPr lang="en-IN" sz="1400" b="1" dirty="0"/>
              <a:t>Objective 2:</a:t>
            </a:r>
            <a:r>
              <a:rPr lang="en-IN" sz="1400" dirty="0"/>
              <a:t> Convert recognized gestures into text in real time. </a:t>
            </a:r>
          </a:p>
          <a:p>
            <a:pPr lvl="0"/>
            <a:r>
              <a:rPr lang="en-IN" sz="1400" b="1" dirty="0"/>
              <a:t>Objective 3:</a:t>
            </a:r>
            <a:r>
              <a:rPr lang="en-IN" sz="1400" dirty="0"/>
              <a:t> Provide a simple and accessible web-based interface. </a:t>
            </a:r>
          </a:p>
          <a:p>
            <a:pPr lvl="0"/>
            <a:r>
              <a:rPr lang="en-IN" sz="1400" b="1" dirty="0"/>
              <a:t>Scope:</a:t>
            </a:r>
            <a:r>
              <a:rPr lang="en-IN" sz="1400" dirty="0"/>
              <a:t> Sign-language users and general users; includes gesture detection, translation, and text display.</a:t>
            </a:r>
          </a:p>
        </p:txBody>
      </p:sp>
      <p:sp>
        <p:nvSpPr>
          <p:cNvPr id="12" name="Shape 10"/>
          <p:cNvSpPr/>
          <p:nvPr/>
        </p:nvSpPr>
        <p:spPr>
          <a:xfrm>
            <a:off x="365760" y="6309360"/>
            <a:ext cx="4844034" cy="3017520"/>
          </a:xfrm>
          <a:prstGeom prst="roundRect">
            <a:avLst>
              <a:gd name="adj" fmla="val 2273"/>
            </a:avLst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640080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vs Proposed System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365760" y="9464040"/>
            <a:ext cx="4844034" cy="2971800"/>
          </a:xfrm>
          <a:prstGeom prst="roundRect">
            <a:avLst>
              <a:gd name="adj" fmla="val 2308"/>
            </a:avLst>
          </a:prstGeom>
          <a:solidFill>
            <a:srgbClr val="DCFCE7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95554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Study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9921240"/>
            <a:ext cx="456971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en-IN" sz="1600" b="1" dirty="0"/>
              <a:t>Technical:</a:t>
            </a:r>
            <a:r>
              <a:rPr lang="en-IN" sz="1600" dirty="0"/>
              <a:t> Python, </a:t>
            </a:r>
            <a:r>
              <a:rPr lang="en-IN" sz="1600" dirty="0" err="1"/>
              <a:t>MediaPipe</a:t>
            </a:r>
            <a:r>
              <a:rPr lang="en-IN" sz="1600" dirty="0"/>
              <a:t>, </a:t>
            </a:r>
            <a:r>
              <a:rPr lang="en-IN" sz="1600" dirty="0" err="1"/>
              <a:t>FastAPI</a:t>
            </a:r>
            <a:r>
              <a:rPr lang="en-IN" sz="1600" dirty="0"/>
              <a:t>, </a:t>
            </a:r>
            <a:r>
              <a:rPr lang="en-IN" sz="1600" dirty="0" err="1"/>
              <a:t>Streamlit</a:t>
            </a:r>
            <a:r>
              <a:rPr lang="en-IN" sz="1600" dirty="0"/>
              <a:t>, MongoDB and ML; runs on a standard laptop with a webcam. </a:t>
            </a:r>
          </a:p>
          <a:p>
            <a:pPr lvl="0"/>
            <a:r>
              <a:rPr lang="en-IN" sz="1600" b="1" dirty="0"/>
              <a:t>Economic:</a:t>
            </a:r>
            <a:r>
              <a:rPr lang="en-IN" sz="1600" dirty="0"/>
              <a:t> Low-cost solution using open-source tools and free-tier hosting; no expensive hardware required. </a:t>
            </a:r>
          </a:p>
          <a:p>
            <a:pPr lvl="0"/>
            <a:r>
              <a:rPr lang="en-IN" sz="1600" b="1" dirty="0"/>
              <a:t>Operational:</a:t>
            </a:r>
            <a:r>
              <a:rPr lang="en-IN" sz="1600" dirty="0"/>
              <a:t> Simple and user-friendly interface; easy to operate, maintain and update the ML model. </a:t>
            </a:r>
          </a:p>
          <a:p>
            <a:pPr lvl="0"/>
            <a:r>
              <a:rPr lang="en-IN" sz="1600" b="1" dirty="0"/>
              <a:t>Schedule:</a:t>
            </a:r>
            <a:r>
              <a:rPr lang="en-IN" sz="1600" dirty="0"/>
              <a:t> Can be completed within the semester through phased development, testing and integration.</a:t>
            </a:r>
          </a:p>
          <a:p>
            <a:pPr>
              <a:spcAft>
                <a:spcPts val="400"/>
              </a:spcAft>
              <a:buSzPct val="100000"/>
            </a:pP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5484114" y="210312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E0F2FE"/>
          </a:solidFill>
          <a:ln w="9525">
            <a:solidFill>
              <a:srgbClr val="0369A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621274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757291" y="2547298"/>
            <a:ext cx="456971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en-IN" sz="1600" b="1" dirty="0"/>
              <a:t>Front-End:</a:t>
            </a:r>
            <a:r>
              <a:rPr lang="en-IN" sz="1600" dirty="0"/>
              <a:t> </a:t>
            </a:r>
            <a:r>
              <a:rPr lang="en-IN" sz="1600" dirty="0" err="1"/>
              <a:t>Streamlit</a:t>
            </a:r>
            <a:r>
              <a:rPr lang="en-IN" sz="1600" dirty="0"/>
              <a:t> + HTML/CSS </a:t>
            </a:r>
          </a:p>
          <a:p>
            <a:pPr lvl="0"/>
            <a:r>
              <a:rPr lang="en-IN" sz="1600" b="1" dirty="0"/>
              <a:t>Back-End:</a:t>
            </a:r>
            <a:r>
              <a:rPr lang="en-IN" sz="1600" dirty="0"/>
              <a:t> </a:t>
            </a:r>
            <a:r>
              <a:rPr lang="en-IN" sz="1600" dirty="0" err="1"/>
              <a:t>FastAPI</a:t>
            </a:r>
            <a:r>
              <a:rPr lang="en-IN" sz="1600" dirty="0"/>
              <a:t> + REST APIs </a:t>
            </a:r>
          </a:p>
          <a:p>
            <a:pPr lvl="0"/>
            <a:r>
              <a:rPr lang="en-IN" sz="1600" b="1" dirty="0"/>
              <a:t>Database:</a:t>
            </a:r>
            <a:r>
              <a:rPr lang="en-IN" sz="1600" dirty="0"/>
              <a:t> MongoDB </a:t>
            </a:r>
          </a:p>
          <a:p>
            <a:pPr lvl="0"/>
            <a:r>
              <a:rPr lang="en-IN" sz="1600" b="1" dirty="0"/>
              <a:t>ML:</a:t>
            </a:r>
            <a:r>
              <a:rPr lang="en-IN" sz="1600" dirty="0"/>
              <a:t> Python + </a:t>
            </a:r>
            <a:r>
              <a:rPr lang="en-IN" sz="1600" dirty="0" err="1"/>
              <a:t>MediaPipe</a:t>
            </a:r>
            <a:r>
              <a:rPr lang="en-IN" sz="1600" dirty="0"/>
              <a:t> + Machine Learning </a:t>
            </a:r>
          </a:p>
          <a:p>
            <a:pPr lvl="0"/>
            <a:r>
              <a:rPr lang="en-IN" sz="1600" b="1" dirty="0"/>
              <a:t>Tools:</a:t>
            </a:r>
            <a:r>
              <a:rPr lang="en-IN" sz="1600" dirty="0"/>
              <a:t> Git &amp; GitHub, Postman, VS Code, Draw.io</a:t>
            </a:r>
          </a:p>
        </p:txBody>
      </p:sp>
      <p:sp>
        <p:nvSpPr>
          <p:cNvPr id="21" name="Shape 18"/>
          <p:cNvSpPr/>
          <p:nvPr/>
        </p:nvSpPr>
        <p:spPr>
          <a:xfrm>
            <a:off x="5484114" y="4526280"/>
            <a:ext cx="4844034" cy="2743200"/>
          </a:xfrm>
          <a:prstGeom prst="roundRect">
            <a:avLst>
              <a:gd name="adj" fmla="val 2500"/>
            </a:avLst>
          </a:prstGeom>
          <a:solidFill>
            <a:srgbClr val="EDE9FE"/>
          </a:solidFill>
          <a:ln w="9525">
            <a:solidFill>
              <a:srgbClr val="6D28D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621274" y="461772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621274" y="4983480"/>
            <a:ext cx="4569714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6D28D9"/>
            </a:solidFill>
            <a:prstDash val="dash"/>
          </a:ln>
        </p:spPr>
      </p:sp>
      <p:sp>
        <p:nvSpPr>
          <p:cNvPr id="24" name="Text 21"/>
          <p:cNvSpPr txBox="1"/>
          <p:nvPr/>
        </p:nvSpPr>
        <p:spPr>
          <a:xfrm>
            <a:off x="5621274" y="4983480"/>
            <a:ext cx="4569714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architecture diagram: Front-End – REST API – Database]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484114" y="7406640"/>
            <a:ext cx="4844034" cy="2514600"/>
          </a:xfrm>
          <a:prstGeom prst="roundRect">
            <a:avLst>
              <a:gd name="adj" fmla="val 2727"/>
            </a:avLst>
          </a:prstGeom>
          <a:solidFill>
            <a:srgbClr val="FFEDD5"/>
          </a:solidFill>
          <a:ln w="9525">
            <a:solidFill>
              <a:srgbClr val="C2410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621274" y="74980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&amp; Database Design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5484114" y="10058400"/>
            <a:ext cx="4844034" cy="2377440"/>
          </a:xfrm>
          <a:prstGeom prst="roundRect">
            <a:avLst>
              <a:gd name="adj" fmla="val 2885"/>
            </a:avLst>
          </a:prstGeom>
          <a:solidFill>
            <a:srgbClr val="CCFBF1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621274" y="1014984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Screenshots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5621274" y="10515600"/>
            <a:ext cx="221627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dash"/>
          </a:ln>
        </p:spPr>
      </p:sp>
      <p:sp>
        <p:nvSpPr>
          <p:cNvPr id="32" name="Text 29"/>
          <p:cNvSpPr txBox="1"/>
          <p:nvPr/>
        </p:nvSpPr>
        <p:spPr>
          <a:xfrm>
            <a:off x="5621274" y="10515600"/>
            <a:ext cx="2216277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1]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7974711" y="10515600"/>
            <a:ext cx="221627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7974711" y="10515600"/>
            <a:ext cx="2216277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2]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365760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EE2E2"/>
          </a:solidFill>
          <a:ln w="9525">
            <a:solidFill>
              <a:srgbClr val="B91C1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02920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Testing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502920" y="12984480"/>
            <a:ext cx="28635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en-IN" sz="1100" b="1" dirty="0"/>
              <a:t>Key Outcomes:</a:t>
            </a:r>
            <a:r>
              <a:rPr lang="en-IN" sz="1100" dirty="0"/>
              <a:t> Real-time sign detection and text translation. </a:t>
            </a:r>
          </a:p>
          <a:p>
            <a:pPr lvl="0"/>
            <a:r>
              <a:rPr lang="en-IN" sz="1100" b="1" dirty="0"/>
              <a:t>CRUD:</a:t>
            </a:r>
            <a:r>
              <a:rPr lang="en-IN" sz="1100" dirty="0"/>
              <a:t> User data and translation history management. </a:t>
            </a:r>
          </a:p>
          <a:p>
            <a:pPr lvl="0"/>
            <a:r>
              <a:rPr lang="en-IN" sz="1100" b="1" dirty="0"/>
              <a:t>Validation:</a:t>
            </a:r>
            <a:r>
              <a:rPr lang="en-IN" sz="1100" dirty="0"/>
              <a:t> Accurate gesture and input validation. </a:t>
            </a:r>
          </a:p>
          <a:p>
            <a:pPr lvl="0"/>
            <a:r>
              <a:rPr lang="en-IN" sz="1100" b="1" dirty="0"/>
              <a:t>Performance:</a:t>
            </a:r>
            <a:r>
              <a:rPr lang="en-IN" sz="1100" dirty="0"/>
              <a:t> Fast and responsive real-time detection. </a:t>
            </a:r>
          </a:p>
        </p:txBody>
      </p:sp>
      <p:sp>
        <p:nvSpPr>
          <p:cNvPr id="38" name="Shape 35"/>
          <p:cNvSpPr/>
          <p:nvPr/>
        </p:nvSpPr>
        <p:spPr>
          <a:xfrm>
            <a:off x="3777996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ECFCCB"/>
          </a:solidFill>
          <a:ln w="9525">
            <a:solidFill>
              <a:srgbClr val="4D7C0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915156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D7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3915156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en-IN" sz="1400" b="1" dirty="0"/>
              <a:t>What was achieved:</a:t>
            </a:r>
            <a:r>
              <a:rPr lang="en-IN" sz="1400" dirty="0"/>
              <a:t> Real-time sign detection and text translation. </a:t>
            </a:r>
          </a:p>
          <a:p>
            <a:pPr lvl="0"/>
            <a:r>
              <a:rPr lang="en-IN" sz="1400" b="1" dirty="0"/>
              <a:t>Objectives:</a:t>
            </a:r>
            <a:r>
              <a:rPr lang="en-IN" sz="1400" dirty="0"/>
              <a:t> Improved communication through a simple and accessible translator.</a:t>
            </a:r>
          </a:p>
        </p:txBody>
      </p:sp>
      <p:sp>
        <p:nvSpPr>
          <p:cNvPr id="41" name="Shape 38"/>
          <p:cNvSpPr/>
          <p:nvPr/>
        </p:nvSpPr>
        <p:spPr>
          <a:xfrm>
            <a:off x="7190232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AE8FF"/>
          </a:solidFill>
          <a:ln w="9525">
            <a:solidFill>
              <a:srgbClr val="A21CA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327392" y="12591102"/>
            <a:ext cx="2863596" cy="393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21C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43" name="Text 40"/>
          <p:cNvSpPr txBox="1"/>
          <p:nvPr/>
        </p:nvSpPr>
        <p:spPr>
          <a:xfrm>
            <a:off x="7327392" y="12943840"/>
            <a:ext cx="2863088" cy="1293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algn="just"/>
            <a:r>
              <a:rPr lang="en-IN" sz="1150" b="1" dirty="0"/>
              <a:t>Enhancement 1:</a:t>
            </a:r>
            <a:r>
              <a:rPr lang="en-IN" sz="1150" dirty="0"/>
              <a:t> Expand the system to recognize a wider range of sign language gestures and support multiple regional and international sign languages. </a:t>
            </a:r>
          </a:p>
          <a:p>
            <a:pPr lvl="0" algn="just"/>
            <a:r>
              <a:rPr lang="en-IN" sz="1150" b="1" dirty="0"/>
              <a:t>Enhancement 2:</a:t>
            </a:r>
            <a:r>
              <a:rPr lang="en-IN" sz="1150" dirty="0"/>
              <a:t> Improve translation accuracy using advanced AI models and add </a:t>
            </a:r>
            <a:r>
              <a:rPr lang="en-IN" sz="1150" b="1" dirty="0"/>
              <a:t>voice output</a:t>
            </a:r>
            <a:r>
              <a:rPr lang="en-IN" sz="1150" dirty="0"/>
              <a:t> for more natural and accessible communication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150" dirty="0"/>
          </a:p>
        </p:txBody>
      </p:sp>
      <p:sp>
        <p:nvSpPr>
          <p:cNvPr id="44" name="Text 41"/>
          <p:cNvSpPr txBox="1"/>
          <p:nvPr/>
        </p:nvSpPr>
        <p:spPr>
          <a:xfrm>
            <a:off x="365760" y="14356080"/>
            <a:ext cx="76763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100" dirty="0"/>
              <a:t>References: Pigou, L. et al., “Beyond Temporal Pooling: Recurrence and Convolutional Encoders for Gesture Recognition,” 2015. </a:t>
            </a:r>
            <a:r>
              <a:rPr lang="en-IN" sz="1100" dirty="0" err="1"/>
              <a:t>MediaPipe</a:t>
            </a:r>
            <a:r>
              <a:rPr lang="en-IN" sz="1100" dirty="0"/>
              <a:t>, “Hand </a:t>
            </a:r>
            <a:r>
              <a:rPr lang="en-IN" sz="1100" dirty="0" err="1"/>
              <a:t>Landmarker</a:t>
            </a:r>
            <a:r>
              <a:rPr lang="en-IN" sz="1100" dirty="0"/>
              <a:t>,” Google Developers, </a:t>
            </a:r>
            <a:r>
              <a:rPr lang="en-IN" sz="1100" dirty="0">
                <a:hlinkClick r:id="rId3"/>
              </a:rPr>
              <a:t>https://ai.google.dev/edge/mediapipe/solutions/vision/hand_landmarker</a:t>
            </a:r>
            <a:r>
              <a:rPr lang="en-IN" sz="1100" dirty="0"/>
              <a:t> </a:t>
            </a:r>
            <a:r>
              <a:rPr lang="en-IN" sz="1100" dirty="0" err="1"/>
              <a:t>Mohandes</a:t>
            </a:r>
            <a:r>
              <a:rPr lang="en-IN" sz="1100" dirty="0"/>
              <a:t>, M. et al., “Image-Based and Sensor-Based Approaches for Arabic Sign Language Recognition,” IEEE Transactions on Human-Machine Systems, 2014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9505188" y="14264640"/>
            <a:ext cx="822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  <a:prstDash val="dash"/>
          </a:ln>
        </p:spPr>
      </p:sp>
      <p:sp>
        <p:nvSpPr>
          <p:cNvPr id="46" name="Text 43"/>
          <p:cNvSpPr txBox="1"/>
          <p:nvPr/>
        </p:nvSpPr>
        <p:spPr>
          <a:xfrm>
            <a:off x="9505188" y="14264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QR: GitHub</a:t>
            </a:r>
            <a:endParaRPr lang="en-US" sz="900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9A09C0FE-C728-CA4D-0779-BFDB419A76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412" y="6796915"/>
            <a:ext cx="4618228" cy="245389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A8CC2732-49FE-4A93-0BAC-6A3169FBC6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1274" y="4905541"/>
            <a:ext cx="4569714" cy="2318219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28FD56EA-0BEA-C900-58C1-62D8A1001C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7383" y="7787086"/>
            <a:ext cx="3977496" cy="207374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BAB63ED-918E-7E2C-13CA-59C64063F2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21274" y="10538174"/>
            <a:ext cx="2216277" cy="1760506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B818996E-9FE1-8AAF-984C-A22F76D71A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47130" y="10515600"/>
            <a:ext cx="2243858" cy="1783080"/>
          </a:xfrm>
          <a:prstGeom prst="rect">
            <a:avLst/>
          </a:prstGeom>
        </p:spPr>
      </p:pic>
      <p:pic>
        <p:nvPicPr>
          <p:cNvPr id="48" name="logo" descr="KLH University logo" title="KLH logo">
            <a:extLst>
              <a:ext uri="{FF2B5EF4-FFF2-40B4-BE49-F238E27FC236}">
                <a16:creationId xmlns:a16="http://schemas.microsoft.com/office/drawing/2014/main" id="{BCDD2F59-FF97-6D03-324F-7FC0B9FBB18A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365760" y="320040"/>
            <a:ext cx="1280160" cy="1399218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C2D6D151-381F-AE30-A437-AE461C2D09A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93423" y="14272260"/>
            <a:ext cx="846489" cy="85057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505</Words>
  <Application>Microsoft Office PowerPoint</Application>
  <PresentationFormat>Custom</PresentationFormat>
  <Paragraphs>46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devaji rashmika</cp:lastModifiedBy>
  <cp:revision>3</cp:revision>
  <dcterms:created xsi:type="dcterms:W3CDTF">2026-09-28T08:11:17Z</dcterms:created>
  <dcterms:modified xsi:type="dcterms:W3CDTF">2026-10-02T12:11:16Z</dcterms:modified>
</cp:coreProperties>
</file>