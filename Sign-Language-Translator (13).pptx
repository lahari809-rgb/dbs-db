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notesSlides/notesSlide2.xml" ContentType="application/vnd.openxmlformats-officedocument.presentationml.notesSlide+xml"/>
  <Override PartName="/ppt/ink/ink4.xml" ContentType="application/inkml+xml"/>
  <Override PartName="/ppt/ink/ink5.xml" ContentType="application/inkml+xml"/>
  <Override PartName="/ppt/notesSlides/notesSlide3.xml" ContentType="application/vnd.openxmlformats-officedocument.presentationml.notesSlide+xml"/>
  <Override PartName="/ppt/ink/ink6.xml" ContentType="application/inkml+xml"/>
  <Override PartName="/ppt/ink/ink7.xml" ContentType="application/inkml+xml"/>
  <Override PartName="/ppt/notesSlides/notesSlide4.xml" ContentType="application/vnd.openxmlformats-officedocument.presentationml.notesSlide+xml"/>
  <Override PartName="/ppt/ink/ink8.xml" ContentType="application/inkml+xml"/>
  <Override PartName="/ppt/ink/ink9.xml" ContentType="application/inkml+xml"/>
  <Override PartName="/ppt/ink/ink10.xml" ContentType="application/inkml+xml"/>
  <Override PartName="/ppt/notesSlides/notesSlide5.xml" ContentType="application/vnd.openxmlformats-officedocument.presentationml.notesSlide+xml"/>
  <Override PartName="/ppt/ink/ink11.xml" ContentType="application/inkml+xml"/>
  <Override PartName="/ppt/ink/ink12.xml" ContentType="application/inkml+xml"/>
  <Override PartName="/ppt/notesSlides/notesSlide6.xml" ContentType="application/vnd.openxmlformats-officedocument.presentationml.notesSlide+xml"/>
  <Override PartName="/ppt/ink/ink13.xml" ContentType="application/inkml+xml"/>
  <Override PartName="/ppt/ink/ink14.xml" ContentType="application/inkml+xml"/>
  <Override PartName="/ppt/ink/ink15.xml" ContentType="application/inkml+xml"/>
  <Override PartName="/ppt/notesSlides/notesSlide7.xml" ContentType="application/vnd.openxmlformats-officedocument.presentationml.notesSlide+xml"/>
  <Override PartName="/ppt/ink/ink16.xml" ContentType="application/inkml+xml"/>
  <Override PartName="/ppt/ink/ink17.xml" ContentType="application/inkml+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embeddedFontLst>
    <p:embeddedFont>
      <p:font typeface="DM Sans SemiBold" panose="020B0604020202020204" charset="0"/>
      <p:regular r:id="rId11"/>
    </p:embeddedFont>
    <p:embeddedFont>
      <p:font typeface="Inter Bold" panose="020B0604020202020204" charset="0"/>
      <p:regular r:id="rId12"/>
    </p:embeddedFont>
    <p:embeddedFont>
      <p:font typeface="Inter Medium" panose="020B0604020202020204" charset="0"/>
      <p:regular r:id="rId1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4" d="100"/>
          <a:sy n="94" d="100"/>
        </p:scale>
        <p:origin x="202" y="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6T04:53:18.768"/>
    </inkml:context>
    <inkml:brush xml:id="br0">
      <inkml:brushProperty name="width" value="0.35" units="cm"/>
      <inkml:brushProperty name="height" value="0.35" units="cm"/>
      <inkml:brushProperty name="color" value="#FFFFFF"/>
    </inkml:brush>
  </inkml:definitions>
  <inkml:trace contextRef="#ctx0" brushRef="#br0">1728 1 24570,'-1727'501'0,"5277"-501"0,-3811-501 0,-1301 501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6T04:53:23.345"/>
    </inkml:context>
    <inkml:brush xml:id="br0">
      <inkml:brushProperty name="width" value="0.35" units="cm"/>
      <inkml:brushProperty name="height" value="0.35" units="cm"/>
      <inkml:brushProperty name="color" value="#FFFFFF"/>
    </inkml:brush>
  </inkml:definitions>
  <inkml:trace contextRef="#ctx0" brushRef="#br0">0 138 24515,'1922'-138'0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6T04:53:25.741"/>
    </inkml:context>
    <inkml:brush xml:id="br0">
      <inkml:brushProperty name="width" value="0.35" units="cm"/>
      <inkml:brushProperty name="height" value="0.35" units="cm"/>
      <inkml:brushProperty name="color" value="#FFFFFF"/>
    </inkml:brush>
  </inkml:definitions>
  <inkml:trace contextRef="#ctx0" brushRef="#br0">409 27 24575,'-46'1'0,"-1"-3"0,-66-10 0,85 8 0,1 1 0,-31 2 0,-12-2 0,51 0-1365</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6T04:52:52.613"/>
    </inkml:context>
    <inkml:brush xml:id="br0">
      <inkml:brushProperty name="width" value="0.35" units="cm"/>
      <inkml:brushProperty name="height" value="0.35" units="cm"/>
      <inkml:brushProperty name="color" value="#FFFFFF"/>
    </inkml:brush>
  </inkml:definitions>
  <inkml:trace contextRef="#ctx0" brushRef="#br0">0 28 24435,'2426'0'0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6T04:53:00.101"/>
    </inkml:context>
    <inkml:brush xml:id="br0">
      <inkml:brushProperty name="width" value="0.35" units="cm"/>
      <inkml:brushProperty name="height" value="0.35" units="cm"/>
      <inkml:brushProperty name="color" value="#FFFFFF"/>
    </inkml:brush>
  </inkml:definitions>
  <inkml:trace contextRef="#ctx0" brushRef="#br0">2930 25 24575,'-41'-2'0,"-47"-8"0,-37-2 0,-470 13 0,572 0 0,1 1 0,-28 6 0,26-3 0,-42 2 0,51-6 0,-28-1 0,-80 13 0,88-9 0,0-1 0,-67-2 0,-23 0 0,63 10 0,46-7 0,-1-1 0,-24 2 0,-522-3 0,274-5 0,-141 3-1365</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6T04:53:38.110"/>
    </inkml:context>
    <inkml:brush xml:id="br0">
      <inkml:brushProperty name="width" value="0.35" units="cm"/>
      <inkml:brushProperty name="height" value="0.35" units="cm"/>
      <inkml:brushProperty name="color" value="#FFFFFF"/>
    </inkml:brush>
  </inkml:definitions>
  <inkml:trace contextRef="#ctx0" brushRef="#br0">0 184 24545,'2562'-184'0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6T04:53:42.431"/>
    </inkml:context>
    <inkml:brush xml:id="br0">
      <inkml:brushProperty name="width" value="0.35" units="cm"/>
      <inkml:brushProperty name="height" value="0.35" units="cm"/>
      <inkml:brushProperty name="color" value="#FFFFFF"/>
    </inkml:brush>
  </inkml:definitions>
  <inkml:trace contextRef="#ctx0" brushRef="#br0">2885 0 24575,'-5'1'0,"0"0"0,0 0 0,0 0 0,0 0 0,-7 3 0,-18 5 0,-54-1 0,53-6 0,0 2 0,-56 12 0,59-9 0,-1-1 0,1-1 0,-43 1 0,-89-7 0,60-1 0,-503 2 0,566 2 0,-48 8 0,46-4 0,-44 0 0,-1238-7-1365</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6T04:53:50.545"/>
    </inkml:context>
    <inkml:brush xml:id="br0">
      <inkml:brushProperty name="width" value="0.35" units="cm"/>
      <inkml:brushProperty name="height" value="0.35" units="cm"/>
      <inkml:brushProperty name="color" value="#FFFFFF"/>
    </inkml:brush>
  </inkml:definitions>
  <inkml:trace contextRef="#ctx0" brushRef="#br0">0 229 24522,'2654'-229'0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6T04:53:54.177"/>
    </inkml:context>
    <inkml:brush xml:id="br0">
      <inkml:brushProperty name="width" value="0.35" units="cm"/>
      <inkml:brushProperty name="height" value="0.35" units="cm"/>
      <inkml:brushProperty name="color" value="#FFFFFF"/>
    </inkml:brush>
  </inkml:definitions>
  <inkml:trace contextRef="#ctx0" brushRef="#br0">1 0 24245,'2449'161'0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6T04:53:58.891"/>
    </inkml:context>
    <inkml:brush xml:id="br0">
      <inkml:brushProperty name="width" value="0.35" units="cm"/>
      <inkml:brushProperty name="height" value="0.35" units="cm"/>
      <inkml:brushProperty name="color" value="#FFFFFF"/>
    </inkml:brush>
  </inkml:definitions>
  <inkml:trace contextRef="#ctx0" brushRef="#br0">1969 0 24575,'-436'25'0,"424"-24"0,0 2 0,0 0 0,0 1 0,-18 7 0,20-6 0,-1-1 0,0-1 0,0 1 0,-1-2 0,-14 3 0,-258-4 0,140-3 0,-802 2-1365</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6T04:54:09.885"/>
    </inkml:context>
    <inkml:brush xml:id="br0">
      <inkml:brushProperty name="width" value="0.35" units="cm"/>
      <inkml:brushProperty name="height" value="0.35" units="cm"/>
      <inkml:brushProperty name="color" value="#FFFFFF"/>
    </inkml:brush>
  </inkml:definitions>
  <inkml:trace contextRef="#ctx0" brushRef="#br0">1 229 24524,'2563'-229'0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6T04:54:13.092"/>
    </inkml:context>
    <inkml:brush xml:id="br0">
      <inkml:brushProperty name="width" value="0.35" units="cm"/>
      <inkml:brushProperty name="height" value="0.35" units="cm"/>
      <inkml:brushProperty name="color" value="#FFFFFF"/>
    </inkml:brush>
  </inkml:definitions>
  <inkml:trace contextRef="#ctx0" brushRef="#br0">2725 2 24575,'-74'-2'0,"-82"4"0,80 9 0,45-6 0,-40 2 0,16-6 0,12-1 0,0 2 0,-51 8 0,-17 3 0,3-2 0,-201 58 0,259-62 0,0-3 0,-1-2 0,-57-5 0,11 1 0,47 2 0,-25-1 0,-135 16 0,131-7 0,0-3 0,-91-7 0,46 0 0,96 3 0,-1 2 0,1 2 0,-39 9 0,38-6 0,-1-2 0,-56 4 0,-28-11-1365</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6T04:54:24.316"/>
    </inkml:context>
    <inkml:brush xml:id="br0">
      <inkml:brushProperty name="width" value="0.35" units="cm"/>
      <inkml:brushProperty name="height" value="0.35" units="cm"/>
      <inkml:brushProperty name="color" value="#FFFFFF"/>
    </inkml:brush>
  </inkml:definitions>
  <inkml:trace contextRef="#ctx0" brushRef="#br0">0 1 23892,'2564'0'0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6T04:54:27.857"/>
    </inkml:context>
    <inkml:brush xml:id="br0">
      <inkml:brushProperty name="width" value="0.35" units="cm"/>
      <inkml:brushProperty name="height" value="0.35" units="cm"/>
      <inkml:brushProperty name="color" value="#FFFFFF"/>
    </inkml:brush>
  </inkml:definitions>
  <inkml:trace contextRef="#ctx0" brushRef="#br0">2520 24 24575,'-133'-2'0,"-143"4"0,188 9 0,51-5 0,-49 0 0,-9-4 0,-201-5 0,191-8 0,-27-1 0,103 10 0,-38-7 0,39 4 0,-39-2 0,-257 8 0,292 0 0,-48 9 0,-14 1 0,-277-9 192,191-3-1749</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6T04:54:33.702"/>
    </inkml:context>
    <inkml:brush xml:id="br0">
      <inkml:brushProperty name="width" value="0.35" units="cm"/>
      <inkml:brushProperty name="height" value="0.35" units="cm"/>
      <inkml:brushProperty name="color" value="#FFFFFF"/>
    </inkml:brush>
  </inkml:definitions>
  <inkml:trace contextRef="#ctx0" brushRef="#br0">2564 3 24575,'-60'-1'0,"0"2"0,0 3 0,-91 19 0,94-10 0,0-2 0,-1-2 0,-109 1 0,-263-12 0,396 1 0,-53-11 0,16 2 0,-3 1 0,26 2 0,-56 0 0,-42-5 0,1 1 0,50 10 0,-190 3 0,164 13 0,71-7 0,-7 1 0,26-3 0,-62 3 0,70-10-1365</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6T04:54:44.708"/>
    </inkml:context>
    <inkml:brush xml:id="br0">
      <inkml:brushProperty name="width" value="0.35" units="cm"/>
      <inkml:brushProperty name="height" value="0.35" units="cm"/>
      <inkml:brushProperty name="color" value="#FFFFFF"/>
    </inkml:brush>
  </inkml:definitions>
  <inkml:trace contextRef="#ctx0" brushRef="#br0">1 90 24575,'98'0'0,"296"-14"0,-344 8 0,53-7 0,116 1 0,-201 11 0,0-1 0,30-6 0,-29 4 0,39-3 0,625 5 0,-332 4 0,-253 0 0,108-4 0,-145-9 0,-45 7 0,0 1 0,24-1 0,291 4-1365</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6T04:55:00.168"/>
    </inkml:context>
    <inkml:brush xml:id="br0">
      <inkml:brushProperty name="width" value="0.35" units="cm"/>
      <inkml:brushProperty name="height" value="0.35" units="cm"/>
      <inkml:brushProperty name="color" value="#FFFFFF"/>
    </inkml:brush>
  </inkml:definitions>
  <inkml:trace contextRef="#ctx0" brushRef="#br0">0 67 24438,'2496'-67'0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632151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5F5F5"/>
          </a:solidFill>
          <a:ln/>
        </p:spPr>
      </p:sp>
      <p:sp>
        <p:nvSpPr>
          <p:cNvPr id="3" name="Shape 1"/>
          <p:cNvSpPr/>
          <p:nvPr/>
        </p:nvSpPr>
        <p:spPr>
          <a:xfrm>
            <a:off x="0" y="0"/>
            <a:ext cx="12191695" cy="68580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customXml" Target="../ink/ink3.xml"/><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customXml" Target="../ink/ink2.xml"/><Relationship Id="rId5" Type="http://schemas.openxmlformats.org/officeDocument/2006/relationships/image" Target="../media/image3.png"/><Relationship Id="rId10" Type="http://schemas.openxmlformats.org/officeDocument/2006/relationships/image" Target="../media/image6.png"/><Relationship Id="rId4" Type="http://schemas.openxmlformats.org/officeDocument/2006/relationships/customXml" Target="../ink/ink1.xml"/><Relationship Id="rId9"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customXml" Target="../ink/ink5.xml"/><Relationship Id="rId5" Type="http://schemas.openxmlformats.org/officeDocument/2006/relationships/image" Target="../media/image70.png"/><Relationship Id="rId4" Type="http://schemas.openxmlformats.org/officeDocument/2006/relationships/customXml" Target="../ink/ink4.xml"/></Relationships>
</file>

<file path=ppt/slides/_rels/slide3.xml.rels><?xml version="1.0" encoding="UTF-8" standalone="yes"?>
<Relationships xmlns="http://schemas.openxmlformats.org/package/2006/relationships"><Relationship Id="rId8" Type="http://schemas.openxmlformats.org/officeDocument/2006/relationships/customXml" Target="../ink/ink6.xml"/><Relationship Id="rId3" Type="http://schemas.openxmlformats.org/officeDocument/2006/relationships/image" Target="../media/image8.svg"/><Relationship Id="rId7"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1.svg"/><Relationship Id="rId11" Type="http://schemas.openxmlformats.org/officeDocument/2006/relationships/image" Target="../media/image15.png"/><Relationship Id="rId5" Type="http://schemas.openxmlformats.org/officeDocument/2006/relationships/image" Target="../media/image10.svg"/><Relationship Id="rId10" Type="http://schemas.openxmlformats.org/officeDocument/2006/relationships/customXml" Target="../ink/ink7.xml"/><Relationship Id="rId4" Type="http://schemas.openxmlformats.org/officeDocument/2006/relationships/image" Target="../media/image9.svg"/><Relationship Id="rId9" Type="http://schemas.openxmlformats.org/officeDocument/2006/relationships/image" Target="../media/image14.png"/></Relationships>
</file>

<file path=ppt/slides/_rels/slide4.xml.rels><?xml version="1.0" encoding="UTF-8" standalone="yes"?>
<Relationships xmlns="http://schemas.openxmlformats.org/package/2006/relationships"><Relationship Id="rId8" Type="http://schemas.openxmlformats.org/officeDocument/2006/relationships/customXml" Target="../ink/ink10.xml"/><Relationship Id="rId3" Type="http://schemas.openxmlformats.org/officeDocument/2006/relationships/image" Target="../media/image13.png"/><Relationship Id="rId7"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customXml" Target="../ink/ink9.xml"/><Relationship Id="rId5" Type="http://schemas.openxmlformats.org/officeDocument/2006/relationships/image" Target="../media/image17.png"/><Relationship Id="rId4" Type="http://schemas.openxmlformats.org/officeDocument/2006/relationships/customXml" Target="../ink/ink8.xml"/><Relationship Id="rId9" Type="http://schemas.openxmlformats.org/officeDocument/2006/relationships/image" Target="../media/image19.png"/></Relationships>
</file>

<file path=ppt/slides/_rels/slide5.xml.rels><?xml version="1.0" encoding="UTF-8" standalone="yes"?>
<Relationships xmlns="http://schemas.openxmlformats.org/package/2006/relationships"><Relationship Id="rId3" Type="http://schemas.openxmlformats.org/officeDocument/2006/relationships/customXml" Target="../ink/ink11.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customXml" Target="../ink/ink12.xml"/><Relationship Id="rId4" Type="http://schemas.openxmlformats.org/officeDocument/2006/relationships/image" Target="../media/image20.png"/></Relationships>
</file>

<file path=ppt/slides/_rels/slide6.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customXml" Target="../ink/ink13.xml"/><Relationship Id="rId7" Type="http://schemas.openxmlformats.org/officeDocument/2006/relationships/customXml" Target="../ink/ink15.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customXml" Target="../ink/ink14.xml"/><Relationship Id="rId4" Type="http://schemas.openxmlformats.org/officeDocument/2006/relationships/image" Target="../media/image22.png"/></Relationships>
</file>

<file path=ppt/slides/_rels/slide7.xml.rels><?xml version="1.0" encoding="UTF-8" standalone="yes"?>
<Relationships xmlns="http://schemas.openxmlformats.org/package/2006/relationships"><Relationship Id="rId3" Type="http://schemas.openxmlformats.org/officeDocument/2006/relationships/customXml" Target="../ink/ink16.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customXml" Target="../ink/ink17.xml"/><Relationship Id="rId4" Type="http://schemas.openxmlformats.org/officeDocument/2006/relationships/image" Target="../media/image25.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4571886" cy="6858000"/>
          </a:xfrm>
          <a:prstGeom prst="rect">
            <a:avLst/>
          </a:prstGeom>
          <a:solidFill>
            <a:srgbClr val="F2EEEE"/>
          </a:solidFill>
          <a:ln/>
        </p:spPr>
      </p:sp>
      <p:pic>
        <p:nvPicPr>
          <p:cNvPr id="3" name="Image 0" descr="preencoded.png"/>
          <p:cNvPicPr>
            <a:picLocks noChangeAspect="1"/>
          </p:cNvPicPr>
          <p:nvPr/>
        </p:nvPicPr>
        <p:blipFill>
          <a:blip r:embed="rId3"/>
          <a:stretch>
            <a:fillRect/>
          </a:stretch>
        </p:blipFill>
        <p:spPr>
          <a:xfrm>
            <a:off x="94454" y="506909"/>
            <a:ext cx="4382879" cy="5844084"/>
          </a:xfrm>
          <a:prstGeom prst="rect">
            <a:avLst/>
          </a:prstGeom>
        </p:spPr>
      </p:pic>
      <p:sp>
        <p:nvSpPr>
          <p:cNvPr id="4" name="Text 1"/>
          <p:cNvSpPr/>
          <p:nvPr/>
        </p:nvSpPr>
        <p:spPr>
          <a:xfrm>
            <a:off x="5233360" y="1351722"/>
            <a:ext cx="6296860" cy="683812"/>
          </a:xfrm>
          <a:prstGeom prst="rect">
            <a:avLst/>
          </a:prstGeom>
          <a:noFill/>
          <a:ln/>
        </p:spPr>
        <p:txBody>
          <a:bodyPr wrap="none" lIns="0" tIns="0" rIns="0" bIns="0" rtlCol="0" anchor="t"/>
          <a:lstStyle/>
          <a:p>
            <a:pPr marL="0" indent="0" algn="l">
              <a:lnSpc>
                <a:spcPct val="104000"/>
              </a:lnSpc>
              <a:buNone/>
            </a:pPr>
            <a:r>
              <a:rPr lang="en-US" sz="3700" dirty="0">
                <a:solidFill>
                  <a:srgbClr val="030303"/>
                </a:solidFill>
                <a:latin typeface="DM Sans SemiBold" pitchFamily="34" charset="0"/>
                <a:ea typeface="DM Sans SemiBold" pitchFamily="34" charset="-122"/>
                <a:cs typeface="DM Sans SemiBold" pitchFamily="34" charset="-120"/>
              </a:rPr>
              <a:t>Sign Language Translator</a:t>
            </a:r>
            <a:endParaRPr lang="en-US" sz="3700" dirty="0"/>
          </a:p>
        </p:txBody>
      </p:sp>
      <p:sp>
        <p:nvSpPr>
          <p:cNvPr id="5" name="Text 2"/>
          <p:cNvSpPr/>
          <p:nvPr/>
        </p:nvSpPr>
        <p:spPr>
          <a:xfrm>
            <a:off x="5334887" y="4532243"/>
            <a:ext cx="6804916" cy="910364"/>
          </a:xfrm>
          <a:prstGeom prst="rect">
            <a:avLst/>
          </a:prstGeom>
          <a:noFill/>
          <a:ln/>
        </p:spPr>
        <p:txBody>
          <a:bodyPr wrap="none" lIns="0" tIns="0" rIns="0" bIns="0" rtlCol="0" anchor="t"/>
          <a:lstStyle/>
          <a:p>
            <a:pPr marL="0" indent="0" algn="l">
              <a:lnSpc>
                <a:spcPct val="133000"/>
              </a:lnSpc>
              <a:buNone/>
            </a:pPr>
            <a:r>
              <a:rPr lang="en-US" sz="1450" b="1" dirty="0">
                <a:solidFill>
                  <a:srgbClr val="464646"/>
                </a:solidFill>
                <a:latin typeface="Inter Bold" pitchFamily="34" charset="0"/>
                <a:ea typeface="Inter Bold" pitchFamily="34" charset="-122"/>
                <a:cs typeface="Inter Bold" pitchFamily="34" charset="-120"/>
              </a:rPr>
              <a:t>Team 5 — Section 12</a:t>
            </a:r>
            <a:endParaRPr lang="en-US" sz="1450" dirty="0"/>
          </a:p>
        </p:txBody>
      </p:sp>
      <p:sp>
        <p:nvSpPr>
          <p:cNvPr id="6" name="Shape 3"/>
          <p:cNvSpPr/>
          <p:nvPr/>
        </p:nvSpPr>
        <p:spPr>
          <a:xfrm>
            <a:off x="5233359" y="2435965"/>
            <a:ext cx="6733354" cy="1271741"/>
          </a:xfrm>
          <a:prstGeom prst="roundRect">
            <a:avLst>
              <a:gd name="adj" fmla="val 2603"/>
            </a:avLst>
          </a:prstGeom>
          <a:solidFill>
            <a:srgbClr val="F2EEEE"/>
          </a:solidFill>
          <a:ln/>
        </p:spPr>
        <p:txBody>
          <a:bodyPr/>
          <a:lstStyle/>
          <a:p>
            <a:r>
              <a:rPr lang="en-IN" b="1" dirty="0"/>
              <a:t>Course Name </a:t>
            </a:r>
            <a:r>
              <a:rPr lang="en-IN" dirty="0"/>
              <a:t>: DATABASE SYSTEMS ENGINEERING AND DISTRIBUTED BACKEND DEVELOPMENT </a:t>
            </a:r>
          </a:p>
          <a:p>
            <a:endParaRPr lang="en-IN" dirty="0"/>
          </a:p>
          <a:p>
            <a:r>
              <a:rPr lang="en-IN" b="1" dirty="0"/>
              <a:t>Course Code   </a:t>
            </a:r>
            <a:r>
              <a:rPr lang="en-IN" dirty="0"/>
              <a:t>: 25CS1302E</a:t>
            </a:r>
          </a:p>
        </p:txBody>
      </p:sp>
      <p:sp>
        <p:nvSpPr>
          <p:cNvPr id="8" name="Text 5"/>
          <p:cNvSpPr/>
          <p:nvPr/>
        </p:nvSpPr>
        <p:spPr>
          <a:xfrm>
            <a:off x="5422367" y="3424239"/>
            <a:ext cx="5918846" cy="283467"/>
          </a:xfrm>
          <a:prstGeom prst="rect">
            <a:avLst/>
          </a:prstGeom>
          <a:noFill/>
          <a:ln/>
        </p:spPr>
        <p:txBody>
          <a:bodyPr wrap="none" lIns="0" tIns="0" rIns="0" bIns="0" rtlCol="0" anchor="t"/>
          <a:lstStyle/>
          <a:p>
            <a:pPr marL="0" indent="0" algn="l">
              <a:lnSpc>
                <a:spcPct val="133000"/>
              </a:lnSpc>
              <a:buNone/>
            </a:pPr>
            <a:endParaRPr lang="en-US" sz="1450" dirty="0"/>
          </a:p>
        </p:txBody>
      </p:sp>
      <p:sp>
        <p:nvSpPr>
          <p:cNvPr id="9" name="Shape 6"/>
          <p:cNvSpPr/>
          <p:nvPr/>
        </p:nvSpPr>
        <p:spPr>
          <a:xfrm>
            <a:off x="5334887" y="4853018"/>
            <a:ext cx="5301172" cy="823417"/>
          </a:xfrm>
          <a:prstGeom prst="roundRect">
            <a:avLst>
              <a:gd name="adj" fmla="val 2603"/>
            </a:avLst>
          </a:prstGeom>
          <a:solidFill>
            <a:srgbClr val="F2EEEE"/>
          </a:solidFill>
          <a:ln/>
        </p:spPr>
      </p:sp>
      <p:sp>
        <p:nvSpPr>
          <p:cNvPr id="10" name="Text 7"/>
          <p:cNvSpPr/>
          <p:nvPr/>
        </p:nvSpPr>
        <p:spPr>
          <a:xfrm>
            <a:off x="5422367" y="4977515"/>
            <a:ext cx="6107853" cy="1292393"/>
          </a:xfrm>
          <a:prstGeom prst="rect">
            <a:avLst/>
          </a:prstGeom>
          <a:noFill/>
          <a:ln/>
        </p:spPr>
        <p:txBody>
          <a:bodyPr wrap="none" lIns="0" tIns="0" rIns="0" bIns="0" rtlCol="0" anchor="t"/>
          <a:lstStyle/>
          <a:p>
            <a:pPr marL="0" indent="0" algn="l">
              <a:lnSpc>
                <a:spcPct val="104000"/>
              </a:lnSpc>
              <a:buNone/>
            </a:pPr>
            <a:r>
              <a:rPr lang="en-US" sz="1600" dirty="0">
                <a:solidFill>
                  <a:srgbClr val="464646"/>
                </a:solidFill>
                <a:latin typeface="DM Sans SemiBold" pitchFamily="34" charset="0"/>
                <a:ea typeface="DM Sans SemiBold" pitchFamily="34" charset="-122"/>
                <a:cs typeface="DM Sans SemiBold" pitchFamily="34" charset="-120"/>
              </a:rPr>
              <a:t>2520090004 -Lahari</a:t>
            </a:r>
          </a:p>
          <a:p>
            <a:pPr marL="0" indent="0" algn="l">
              <a:lnSpc>
                <a:spcPct val="104000"/>
              </a:lnSpc>
              <a:buNone/>
            </a:pPr>
            <a:r>
              <a:rPr lang="en-US" sz="1600" dirty="0">
                <a:solidFill>
                  <a:srgbClr val="464646"/>
                </a:solidFill>
                <a:latin typeface="DM Sans SemiBold" pitchFamily="34" charset="0"/>
                <a:ea typeface="DM Sans SemiBold" pitchFamily="34" charset="-122"/>
                <a:cs typeface="DM Sans SemiBold" pitchFamily="34" charset="-120"/>
              </a:rPr>
              <a:t>2520090152 – Devaji Rashmika</a:t>
            </a:r>
            <a:endParaRPr lang="en-US" sz="1600" dirty="0"/>
          </a:p>
        </p:txBody>
      </p:sp>
      <p:sp>
        <p:nvSpPr>
          <p:cNvPr id="11" name="Text 8"/>
          <p:cNvSpPr/>
          <p:nvPr/>
        </p:nvSpPr>
        <p:spPr>
          <a:xfrm>
            <a:off x="7322729" y="5653377"/>
            <a:ext cx="1805369" cy="468974"/>
          </a:xfrm>
          <a:prstGeom prst="rect">
            <a:avLst/>
          </a:prstGeom>
          <a:noFill/>
          <a:ln/>
        </p:spPr>
        <p:txBody>
          <a:bodyPr wrap="none" lIns="0" tIns="0" rIns="0" bIns="0" rtlCol="0" anchor="t"/>
          <a:lstStyle/>
          <a:p>
            <a:pPr marL="0" indent="0" algn="l">
              <a:lnSpc>
                <a:spcPct val="133000"/>
              </a:lnSpc>
              <a:buNone/>
            </a:pPr>
            <a:endParaRPr lang="en-US" sz="1450" dirty="0">
              <a:solidFill>
                <a:srgbClr val="464646"/>
              </a:solidFill>
              <a:latin typeface="Inter Medium" pitchFamily="34" charset="0"/>
              <a:ea typeface="Inter Medium" pitchFamily="34" charset="-122"/>
              <a:cs typeface="Inter Medium" pitchFamily="34" charset="-120"/>
            </a:endParaRPr>
          </a:p>
        </p:txBody>
      </p:sp>
      <p:sp>
        <p:nvSpPr>
          <p:cNvPr id="13" name="Text 1">
            <a:extLst>
              <a:ext uri="{FF2B5EF4-FFF2-40B4-BE49-F238E27FC236}">
                <a16:creationId xmlns:a16="http://schemas.microsoft.com/office/drawing/2014/main" id="{243F1C68-5D94-A92B-E4B8-78E56EA7D945}"/>
              </a:ext>
            </a:extLst>
          </p:cNvPr>
          <p:cNvSpPr/>
          <p:nvPr/>
        </p:nvSpPr>
        <p:spPr>
          <a:xfrm>
            <a:off x="1097279" y="166977"/>
            <a:ext cx="2568271" cy="628154"/>
          </a:xfrm>
          <a:prstGeom prst="rect">
            <a:avLst/>
          </a:prstGeom>
          <a:noFill/>
          <a:ln/>
        </p:spPr>
        <p:txBody>
          <a:bodyPr wrap="none" lIns="0" tIns="0" rIns="0" bIns="0" rtlCol="0" anchor="t"/>
          <a:lstStyle/>
          <a:p>
            <a:pPr marL="0" indent="0" algn="l">
              <a:lnSpc>
                <a:spcPct val="104000"/>
              </a:lnSpc>
              <a:buNone/>
            </a:pPr>
            <a:r>
              <a:rPr lang="en-US" sz="3700" b="1" dirty="0">
                <a:solidFill>
                  <a:srgbClr val="030303"/>
                </a:solidFill>
                <a:latin typeface="DM Sans SemiBold" pitchFamily="34" charset="0"/>
              </a:rPr>
              <a:t>REVIEW-1</a:t>
            </a:r>
            <a:endParaRPr lang="en-US" sz="3700" b="1" dirty="0"/>
          </a:p>
        </p:txBody>
      </p:sp>
      <p:sp>
        <p:nvSpPr>
          <p:cNvPr id="12" name="Shape 8">
            <a:extLst>
              <a:ext uri="{FF2B5EF4-FFF2-40B4-BE49-F238E27FC236}">
                <a16:creationId xmlns:a16="http://schemas.microsoft.com/office/drawing/2014/main" id="{3B7E61C7-0575-32BD-2280-2FC82EC7A53A}"/>
              </a:ext>
            </a:extLst>
          </p:cNvPr>
          <p:cNvSpPr/>
          <p:nvPr/>
        </p:nvSpPr>
        <p:spPr>
          <a:xfrm>
            <a:off x="5334887" y="4532242"/>
            <a:ext cx="5301172" cy="1144193"/>
          </a:xfrm>
          <a:prstGeom prst="roundRect">
            <a:avLst>
              <a:gd name="adj" fmla="val 7899"/>
            </a:avLst>
          </a:prstGeom>
          <a:noFill/>
          <a:ln w="6350">
            <a:solidFill>
              <a:srgbClr val="1C9770"/>
            </a:solidFill>
            <a:prstDash val="solid"/>
          </a:ln>
        </p:spPr>
      </p:sp>
      <p:sp>
        <p:nvSpPr>
          <p:cNvPr id="15" name="Shape 8">
            <a:extLst>
              <a:ext uri="{FF2B5EF4-FFF2-40B4-BE49-F238E27FC236}">
                <a16:creationId xmlns:a16="http://schemas.microsoft.com/office/drawing/2014/main" id="{FC2832AF-02AD-04EB-98CB-B3AFD729D2FB}"/>
              </a:ext>
            </a:extLst>
          </p:cNvPr>
          <p:cNvSpPr/>
          <p:nvPr/>
        </p:nvSpPr>
        <p:spPr>
          <a:xfrm>
            <a:off x="5138806" y="2325758"/>
            <a:ext cx="6958739" cy="1474966"/>
          </a:xfrm>
          <a:prstGeom prst="roundRect">
            <a:avLst>
              <a:gd name="adj" fmla="val 7899"/>
            </a:avLst>
          </a:prstGeom>
          <a:noFill/>
          <a:ln w="6350">
            <a:solidFill>
              <a:srgbClr val="1C9770"/>
            </a:solidFill>
            <a:prstDash val="solid"/>
          </a:ln>
        </p:spPr>
      </p:sp>
      <mc:AlternateContent xmlns:mc="http://schemas.openxmlformats.org/markup-compatibility/2006" xmlns:p14="http://schemas.microsoft.com/office/powerpoint/2010/main">
        <mc:Choice Requires="p14">
          <p:contentPart p14:bwMode="auto" r:id="rId4">
            <p14:nvContentPartPr>
              <p14:cNvPr id="14" name="Ink 13">
                <a:extLst>
                  <a:ext uri="{FF2B5EF4-FFF2-40B4-BE49-F238E27FC236}">
                    <a16:creationId xmlns:a16="http://schemas.microsoft.com/office/drawing/2014/main" id="{DE976785-7957-CA62-B294-0D25744BD2ED}"/>
                  </a:ext>
                </a:extLst>
              </p14:cNvPr>
              <p14:cNvContentPartPr/>
              <p14:nvPr/>
            </p14:nvContentPartPr>
            <p14:xfrm>
              <a:off x="10737963" y="6554919"/>
              <a:ext cx="1278360" cy="180720"/>
            </p14:xfrm>
          </p:contentPart>
        </mc:Choice>
        <mc:Fallback xmlns="">
          <p:pic>
            <p:nvPicPr>
              <p:cNvPr id="14" name="Ink 13">
                <a:extLst>
                  <a:ext uri="{FF2B5EF4-FFF2-40B4-BE49-F238E27FC236}">
                    <a16:creationId xmlns:a16="http://schemas.microsoft.com/office/drawing/2014/main" id="{DE976785-7957-CA62-B294-0D25744BD2ED}"/>
                  </a:ext>
                </a:extLst>
              </p:cNvPr>
              <p:cNvPicPr/>
              <p:nvPr/>
            </p:nvPicPr>
            <p:blipFill>
              <a:blip r:embed="rId5"/>
              <a:stretch>
                <a:fillRect/>
              </a:stretch>
            </p:blipFill>
            <p:spPr>
              <a:xfrm>
                <a:off x="10675323" y="6492279"/>
                <a:ext cx="1404000" cy="3063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7" name="Ink 16">
                <a:extLst>
                  <a:ext uri="{FF2B5EF4-FFF2-40B4-BE49-F238E27FC236}">
                    <a16:creationId xmlns:a16="http://schemas.microsoft.com/office/drawing/2014/main" id="{A6281605-A0AF-70EC-F159-AAB57189C3D5}"/>
                  </a:ext>
                </a:extLst>
              </p14:cNvPr>
              <p14:cNvContentPartPr/>
              <p14:nvPr/>
            </p14:nvContentPartPr>
            <p14:xfrm>
              <a:off x="11384523" y="6614679"/>
              <a:ext cx="692280" cy="50040"/>
            </p14:xfrm>
          </p:contentPart>
        </mc:Choice>
        <mc:Fallback xmlns="">
          <p:pic>
            <p:nvPicPr>
              <p:cNvPr id="17" name="Ink 16">
                <a:extLst>
                  <a:ext uri="{FF2B5EF4-FFF2-40B4-BE49-F238E27FC236}">
                    <a16:creationId xmlns:a16="http://schemas.microsoft.com/office/drawing/2014/main" id="{A6281605-A0AF-70EC-F159-AAB57189C3D5}"/>
                  </a:ext>
                </a:extLst>
              </p:cNvPr>
              <p:cNvPicPr/>
              <p:nvPr/>
            </p:nvPicPr>
            <p:blipFill>
              <a:blip r:embed="rId7"/>
              <a:stretch>
                <a:fillRect/>
              </a:stretch>
            </p:blipFill>
            <p:spPr>
              <a:xfrm>
                <a:off x="11321523" y="6551679"/>
                <a:ext cx="817920" cy="1756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8" name="Ink 17">
                <a:extLst>
                  <a:ext uri="{FF2B5EF4-FFF2-40B4-BE49-F238E27FC236}">
                    <a16:creationId xmlns:a16="http://schemas.microsoft.com/office/drawing/2014/main" id="{E0E7CE6A-4714-3DE5-455E-79A8C5747C86}"/>
                  </a:ext>
                </a:extLst>
              </p14:cNvPr>
              <p14:cNvContentPartPr/>
              <p14:nvPr/>
            </p14:nvContentPartPr>
            <p14:xfrm>
              <a:off x="11954043" y="6703959"/>
              <a:ext cx="147600" cy="10440"/>
            </p14:xfrm>
          </p:contentPart>
        </mc:Choice>
        <mc:Fallback xmlns="">
          <p:pic>
            <p:nvPicPr>
              <p:cNvPr id="18" name="Ink 17">
                <a:extLst>
                  <a:ext uri="{FF2B5EF4-FFF2-40B4-BE49-F238E27FC236}">
                    <a16:creationId xmlns:a16="http://schemas.microsoft.com/office/drawing/2014/main" id="{E0E7CE6A-4714-3DE5-455E-79A8C5747C86}"/>
                  </a:ext>
                </a:extLst>
              </p:cNvPr>
              <p:cNvPicPr/>
              <p:nvPr/>
            </p:nvPicPr>
            <p:blipFill>
              <a:blip r:embed="rId9"/>
              <a:stretch>
                <a:fillRect/>
              </a:stretch>
            </p:blipFill>
            <p:spPr>
              <a:xfrm>
                <a:off x="11891403" y="6640959"/>
                <a:ext cx="273240" cy="136080"/>
              </a:xfrm>
              <a:prstGeom prst="rect">
                <a:avLst/>
              </a:prstGeom>
            </p:spPr>
          </p:pic>
        </mc:Fallback>
      </mc:AlternateContent>
      <p:pic>
        <p:nvPicPr>
          <p:cNvPr id="16" name="Picture 15">
            <a:extLst>
              <a:ext uri="{FF2B5EF4-FFF2-40B4-BE49-F238E27FC236}">
                <a16:creationId xmlns:a16="http://schemas.microsoft.com/office/drawing/2014/main" id="{72E40F94-7D33-68C3-7943-D319F95C824E}"/>
              </a:ext>
            </a:extLst>
          </p:cNvPr>
          <p:cNvPicPr>
            <a:picLocks noChangeAspect="1"/>
          </p:cNvPicPr>
          <p:nvPr/>
        </p:nvPicPr>
        <p:blipFill>
          <a:blip r:embed="rId10"/>
          <a:stretch>
            <a:fillRect/>
          </a:stretch>
        </p:blipFill>
        <p:spPr>
          <a:xfrm>
            <a:off x="9903863" y="40688"/>
            <a:ext cx="2288137" cy="82785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1027113"/>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030303"/>
                </a:solidFill>
                <a:latin typeface="DM Sans SemiBold" pitchFamily="34" charset="0"/>
                <a:ea typeface="DM Sans SemiBold" pitchFamily="34" charset="-122"/>
                <a:cs typeface="DM Sans SemiBold" pitchFamily="34" charset="-120"/>
              </a:rPr>
              <a:t>Abstract</a:t>
            </a:r>
            <a:endParaRPr lang="en-US" sz="3700" dirty="0"/>
          </a:p>
        </p:txBody>
      </p:sp>
      <p:pic>
        <p:nvPicPr>
          <p:cNvPr id="3" name="Image 0" descr="preencoded.png"/>
          <p:cNvPicPr>
            <a:picLocks noChangeAspect="1"/>
          </p:cNvPicPr>
          <p:nvPr/>
        </p:nvPicPr>
        <p:blipFill>
          <a:blip r:embed="rId3"/>
          <a:stretch>
            <a:fillRect/>
          </a:stretch>
        </p:blipFill>
        <p:spPr>
          <a:xfrm>
            <a:off x="661475" y="2113855"/>
            <a:ext cx="3504219" cy="3504307"/>
          </a:xfrm>
          <a:prstGeom prst="rect">
            <a:avLst/>
          </a:prstGeom>
        </p:spPr>
      </p:pic>
      <p:sp>
        <p:nvSpPr>
          <p:cNvPr id="4" name="Text 1"/>
          <p:cNvSpPr/>
          <p:nvPr/>
        </p:nvSpPr>
        <p:spPr>
          <a:xfrm>
            <a:off x="4633201" y="2058716"/>
            <a:ext cx="6903269" cy="2528365"/>
          </a:xfrm>
          <a:prstGeom prst="rect">
            <a:avLst/>
          </a:prstGeom>
          <a:noFill/>
          <a:ln/>
        </p:spPr>
        <p:txBody>
          <a:bodyPr wrap="square" lIns="0" tIns="0" rIns="0" bIns="0" rtlCol="0" anchor="t">
            <a:noAutofit/>
          </a:bodyPr>
          <a:lstStyle/>
          <a:p>
            <a:r>
              <a:rPr lang="en-IN" sz="1600" dirty="0"/>
              <a:t>Communication is a basic human need, but people who use sign language often face difficulties communicating with others who do not understand it. The Sign Language Translator is a database-driven application that recognises hand gestures in real time and converts them into text and speech.</a:t>
            </a:r>
          </a:p>
          <a:p>
            <a:endParaRPr lang="en-IN" sz="1600" dirty="0"/>
          </a:p>
          <a:p>
            <a:r>
              <a:rPr lang="en-IN" sz="1600" dirty="0"/>
              <a:t>The system uses a webcam to capture gestures, OpenCV to process video frames, and </a:t>
            </a:r>
            <a:r>
              <a:rPr lang="en-IN" sz="1600" dirty="0" err="1"/>
              <a:t>MediaPipe</a:t>
            </a:r>
            <a:r>
              <a:rPr lang="en-IN" sz="1600" dirty="0"/>
              <a:t> to detect hand landmarks. An AI/ML model classifies the gestures and displays the recognised sign as text, with an optional speech output. The user interface is developed using HTML, CSS and JavaScript.</a:t>
            </a:r>
          </a:p>
          <a:p>
            <a:endParaRPr lang="en-IN" sz="1600" dirty="0"/>
          </a:p>
          <a:p>
            <a:r>
              <a:rPr lang="en-IN" sz="1600" dirty="0"/>
              <a:t>MongoDB stores user details, signs, categories, meanings and translation history. Users can register, log in, search for signs and view previous translations. Overall, the project combines database management, computer vision and machine learning to provide an affordable and accessible real-time communication solution.</a:t>
            </a:r>
          </a:p>
        </p:txBody>
      </p:sp>
      <mc:AlternateContent xmlns:mc="http://schemas.openxmlformats.org/markup-compatibility/2006" xmlns:p14="http://schemas.microsoft.com/office/powerpoint/2010/main">
        <mc:Choice Requires="p14">
          <p:contentPart p14:bwMode="auto" r:id="rId4">
            <p14:nvContentPartPr>
              <p14:cNvPr id="15" name="Ink 14">
                <a:extLst>
                  <a:ext uri="{FF2B5EF4-FFF2-40B4-BE49-F238E27FC236}">
                    <a16:creationId xmlns:a16="http://schemas.microsoft.com/office/drawing/2014/main" id="{127552E5-7123-29E1-CF99-F65B5CC1CF62}"/>
                  </a:ext>
                </a:extLst>
              </p14:cNvPr>
              <p14:cNvContentPartPr/>
              <p14:nvPr/>
            </p14:nvContentPartPr>
            <p14:xfrm>
              <a:off x="11178603" y="6713319"/>
              <a:ext cx="873720" cy="720"/>
            </p14:xfrm>
          </p:contentPart>
        </mc:Choice>
        <mc:Fallback xmlns="">
          <p:pic>
            <p:nvPicPr>
              <p:cNvPr id="15" name="Ink 14">
                <a:extLst>
                  <a:ext uri="{FF2B5EF4-FFF2-40B4-BE49-F238E27FC236}">
                    <a16:creationId xmlns:a16="http://schemas.microsoft.com/office/drawing/2014/main" id="{127552E5-7123-29E1-CF99-F65B5CC1CF62}"/>
                  </a:ext>
                </a:extLst>
              </p:cNvPr>
              <p:cNvPicPr/>
              <p:nvPr/>
            </p:nvPicPr>
            <p:blipFill>
              <a:blip r:embed="rId5"/>
              <a:stretch>
                <a:fillRect/>
              </a:stretch>
            </p:blipFill>
            <p:spPr>
              <a:xfrm>
                <a:off x="11115603" y="6587319"/>
                <a:ext cx="999360" cy="252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6" name="Ink 15">
                <a:extLst>
                  <a:ext uri="{FF2B5EF4-FFF2-40B4-BE49-F238E27FC236}">
                    <a16:creationId xmlns:a16="http://schemas.microsoft.com/office/drawing/2014/main" id="{DEAC44B0-2F09-FE96-E448-758907AAFB14}"/>
                  </a:ext>
                </a:extLst>
              </p14:cNvPr>
              <p14:cNvContentPartPr/>
              <p14:nvPr/>
            </p14:nvContentPartPr>
            <p14:xfrm>
              <a:off x="10997163" y="6614319"/>
              <a:ext cx="1055160" cy="26280"/>
            </p14:xfrm>
          </p:contentPart>
        </mc:Choice>
        <mc:Fallback xmlns="">
          <p:pic>
            <p:nvPicPr>
              <p:cNvPr id="16" name="Ink 15">
                <a:extLst>
                  <a:ext uri="{FF2B5EF4-FFF2-40B4-BE49-F238E27FC236}">
                    <a16:creationId xmlns:a16="http://schemas.microsoft.com/office/drawing/2014/main" id="{DEAC44B0-2F09-FE96-E448-758907AAFB14}"/>
                  </a:ext>
                </a:extLst>
              </p:cNvPr>
              <p:cNvPicPr/>
              <p:nvPr/>
            </p:nvPicPr>
            <p:blipFill>
              <a:blip r:embed="rId7"/>
              <a:stretch>
                <a:fillRect/>
              </a:stretch>
            </p:blipFill>
            <p:spPr>
              <a:xfrm>
                <a:off x="10934163" y="6551679"/>
                <a:ext cx="1180800" cy="151920"/>
              </a:xfrm>
              <a:prstGeom prst="rect">
                <a:avLst/>
              </a:prstGeom>
            </p:spPr>
          </p:pic>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955377"/>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030303"/>
                </a:solidFill>
                <a:latin typeface="DM Sans SemiBold" pitchFamily="34" charset="0"/>
                <a:ea typeface="DM Sans SemiBold" pitchFamily="34" charset="-122"/>
                <a:cs typeface="DM Sans SemiBold" pitchFamily="34" charset="-120"/>
              </a:rPr>
              <a:t>Introduction</a:t>
            </a:r>
            <a:endParaRPr lang="en-US" sz="3700"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1924050"/>
            <a:ext cx="472468" cy="472480"/>
          </a:xfrm>
          <a:prstGeom prst="rect">
            <a:avLst/>
          </a:prstGeom>
        </p:spPr>
      </p:pic>
      <p:sp>
        <p:nvSpPr>
          <p:cNvPr id="4" name="Text 1"/>
          <p:cNvSpPr/>
          <p:nvPr/>
        </p:nvSpPr>
        <p:spPr>
          <a:xfrm>
            <a:off x="1370177" y="1924050"/>
            <a:ext cx="4607504" cy="295275"/>
          </a:xfrm>
          <a:prstGeom prst="rect">
            <a:avLst/>
          </a:prstGeom>
          <a:noFill/>
          <a:ln/>
        </p:spPr>
        <p:txBody>
          <a:bodyPr wrap="none" lIns="0" tIns="0" rIns="0" bIns="0" rtlCol="0" anchor="t"/>
          <a:lstStyle/>
          <a:p>
            <a:pPr marL="0" indent="0" algn="l">
              <a:lnSpc>
                <a:spcPct val="104000"/>
              </a:lnSpc>
              <a:buNone/>
            </a:pPr>
            <a:r>
              <a:rPr lang="en-US" sz="1850" dirty="0">
                <a:solidFill>
                  <a:srgbClr val="464646"/>
                </a:solidFill>
                <a:latin typeface="DM Sans SemiBold" pitchFamily="34" charset="0"/>
                <a:ea typeface="DM Sans SemiBold" pitchFamily="34" charset="-122"/>
                <a:cs typeface="DM Sans SemiBold" pitchFamily="34" charset="-120"/>
              </a:rPr>
              <a:t>Sign Language</a:t>
            </a:r>
            <a:endParaRPr lang="en-US" sz="1850" dirty="0"/>
          </a:p>
        </p:txBody>
      </p:sp>
      <p:sp>
        <p:nvSpPr>
          <p:cNvPr id="5" name="Text 2"/>
          <p:cNvSpPr/>
          <p:nvPr/>
        </p:nvSpPr>
        <p:spPr>
          <a:xfrm>
            <a:off x="1370177" y="2332732"/>
            <a:ext cx="4607504" cy="907256"/>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464646"/>
                </a:solidFill>
                <a:latin typeface="Inter Medium" pitchFamily="34" charset="0"/>
                <a:ea typeface="Inter Medium" pitchFamily="34" charset="-122"/>
                <a:cs typeface="Inter Medium" pitchFamily="34" charset="-120"/>
              </a:rPr>
              <a:t>A visual-spatial language using hand gestures, facial expressions, and body movements to communicate.</a:t>
            </a:r>
            <a:endParaRPr lang="en-US" sz="1450" dirty="0"/>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13915" y="1924050"/>
            <a:ext cx="472468" cy="472480"/>
          </a:xfrm>
          <a:prstGeom prst="rect">
            <a:avLst/>
          </a:prstGeom>
        </p:spPr>
      </p:pic>
      <p:sp>
        <p:nvSpPr>
          <p:cNvPr id="7" name="Text 3"/>
          <p:cNvSpPr/>
          <p:nvPr/>
        </p:nvSpPr>
        <p:spPr>
          <a:xfrm>
            <a:off x="6922617" y="1924050"/>
            <a:ext cx="4607603" cy="295275"/>
          </a:xfrm>
          <a:prstGeom prst="rect">
            <a:avLst/>
          </a:prstGeom>
          <a:noFill/>
          <a:ln/>
        </p:spPr>
        <p:txBody>
          <a:bodyPr wrap="none" lIns="0" tIns="0" rIns="0" bIns="0" rtlCol="0" anchor="t"/>
          <a:lstStyle/>
          <a:p>
            <a:pPr marL="0" indent="0" algn="l">
              <a:lnSpc>
                <a:spcPct val="104000"/>
              </a:lnSpc>
              <a:buNone/>
            </a:pPr>
            <a:r>
              <a:rPr lang="en-US" sz="1850" dirty="0">
                <a:solidFill>
                  <a:srgbClr val="464646"/>
                </a:solidFill>
                <a:latin typeface="DM Sans SemiBold" pitchFamily="34" charset="0"/>
                <a:ea typeface="DM Sans SemiBold" pitchFamily="34" charset="-122"/>
                <a:cs typeface="DM Sans SemiBold" pitchFamily="34" charset="-120"/>
              </a:rPr>
              <a:t>Communication Barriers</a:t>
            </a:r>
            <a:endParaRPr lang="en-US" sz="1850" dirty="0"/>
          </a:p>
        </p:txBody>
      </p:sp>
      <p:sp>
        <p:nvSpPr>
          <p:cNvPr id="8" name="Text 4"/>
          <p:cNvSpPr/>
          <p:nvPr/>
        </p:nvSpPr>
        <p:spPr>
          <a:xfrm>
            <a:off x="6922617" y="2332732"/>
            <a:ext cx="4607603"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464646"/>
                </a:solidFill>
                <a:latin typeface="Inter Medium" pitchFamily="34" charset="0"/>
                <a:ea typeface="Inter Medium" pitchFamily="34" charset="-122"/>
                <a:cs typeface="Inter Medium" pitchFamily="34" charset="-120"/>
              </a:rPr>
              <a:t>Sign-language users often struggle to interact with non-signers, limiting accessibility in daily life.</a:t>
            </a:r>
            <a:endParaRPr lang="en-US" sz="1450" dirty="0"/>
          </a:p>
        </p:txBody>
      </p:sp>
      <p:pic>
        <p:nvPicPr>
          <p:cNvPr id="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61475" y="3618012"/>
            <a:ext cx="472468" cy="472480"/>
          </a:xfrm>
          <a:prstGeom prst="rect">
            <a:avLst/>
          </a:prstGeom>
        </p:spPr>
      </p:pic>
      <p:sp>
        <p:nvSpPr>
          <p:cNvPr id="10" name="Text 5"/>
          <p:cNvSpPr/>
          <p:nvPr/>
        </p:nvSpPr>
        <p:spPr>
          <a:xfrm>
            <a:off x="1370177" y="3618012"/>
            <a:ext cx="4607504" cy="295275"/>
          </a:xfrm>
          <a:prstGeom prst="rect">
            <a:avLst/>
          </a:prstGeom>
          <a:noFill/>
          <a:ln/>
        </p:spPr>
        <p:txBody>
          <a:bodyPr wrap="none" lIns="0" tIns="0" rIns="0" bIns="0" rtlCol="0" anchor="t"/>
          <a:lstStyle/>
          <a:p>
            <a:pPr marL="0" indent="0" algn="l">
              <a:lnSpc>
                <a:spcPct val="104000"/>
              </a:lnSpc>
              <a:buNone/>
            </a:pPr>
            <a:r>
              <a:rPr lang="en-US" sz="1850" dirty="0">
                <a:solidFill>
                  <a:srgbClr val="464646"/>
                </a:solidFill>
                <a:latin typeface="DM Sans SemiBold" pitchFamily="34" charset="0"/>
                <a:ea typeface="DM Sans SemiBold" pitchFamily="34" charset="-122"/>
                <a:cs typeface="DM Sans SemiBold" pitchFamily="34" charset="-120"/>
              </a:rPr>
              <a:t>AI &amp; Computer Vision</a:t>
            </a:r>
            <a:endParaRPr lang="en-US" sz="1850" dirty="0"/>
          </a:p>
        </p:txBody>
      </p:sp>
      <p:sp>
        <p:nvSpPr>
          <p:cNvPr id="11" name="Text 6"/>
          <p:cNvSpPr/>
          <p:nvPr/>
        </p:nvSpPr>
        <p:spPr>
          <a:xfrm>
            <a:off x="1370177" y="4026694"/>
            <a:ext cx="4607504"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464646"/>
                </a:solidFill>
                <a:latin typeface="Inter Medium" pitchFamily="34" charset="0"/>
                <a:ea typeface="Inter Medium" pitchFamily="34" charset="-122"/>
                <a:cs typeface="Inter Medium" pitchFamily="34" charset="-120"/>
              </a:rPr>
              <a:t>Enables automated, real-time recognition of hand gestures and their meanings.</a:t>
            </a:r>
            <a:endParaRPr lang="en-US" sz="1450" dirty="0"/>
          </a:p>
        </p:txBody>
      </p:sp>
      <p:pic>
        <p:nvPicPr>
          <p:cNvPr id="1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213915" y="3618012"/>
            <a:ext cx="472468" cy="472480"/>
          </a:xfrm>
          <a:prstGeom prst="rect">
            <a:avLst/>
          </a:prstGeom>
        </p:spPr>
      </p:pic>
      <p:sp>
        <p:nvSpPr>
          <p:cNvPr id="13" name="Text 7"/>
          <p:cNvSpPr/>
          <p:nvPr/>
        </p:nvSpPr>
        <p:spPr>
          <a:xfrm>
            <a:off x="6922617" y="3618012"/>
            <a:ext cx="4607603" cy="295275"/>
          </a:xfrm>
          <a:prstGeom prst="rect">
            <a:avLst/>
          </a:prstGeom>
          <a:noFill/>
          <a:ln/>
        </p:spPr>
        <p:txBody>
          <a:bodyPr wrap="none" lIns="0" tIns="0" rIns="0" bIns="0" rtlCol="0" anchor="t"/>
          <a:lstStyle/>
          <a:p>
            <a:pPr marL="0" indent="0" algn="l">
              <a:lnSpc>
                <a:spcPct val="104000"/>
              </a:lnSpc>
              <a:buNone/>
            </a:pPr>
            <a:r>
              <a:rPr lang="en-US" sz="1850" dirty="0">
                <a:solidFill>
                  <a:srgbClr val="464646"/>
                </a:solidFill>
                <a:latin typeface="DM Sans SemiBold" pitchFamily="34" charset="0"/>
                <a:ea typeface="DM Sans SemiBold" pitchFamily="34" charset="-122"/>
                <a:cs typeface="DM Sans SemiBold" pitchFamily="34" charset="-120"/>
              </a:rPr>
              <a:t>Project Goal</a:t>
            </a:r>
            <a:endParaRPr lang="en-US" sz="1850" dirty="0"/>
          </a:p>
        </p:txBody>
      </p:sp>
      <p:sp>
        <p:nvSpPr>
          <p:cNvPr id="14" name="Text 8"/>
          <p:cNvSpPr/>
          <p:nvPr/>
        </p:nvSpPr>
        <p:spPr>
          <a:xfrm>
            <a:off x="6922617" y="4026694"/>
            <a:ext cx="4607603"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464646"/>
                </a:solidFill>
                <a:latin typeface="Inter Medium" pitchFamily="34" charset="0"/>
                <a:ea typeface="Inter Medium" pitchFamily="34" charset="-122"/>
                <a:cs typeface="Inter Medium" pitchFamily="34" charset="-120"/>
              </a:rPr>
              <a:t>Bridge the communication gap through an intelligent, automated gesture recognition system.</a:t>
            </a:r>
            <a:endParaRPr lang="en-US" sz="1450" dirty="0"/>
          </a:p>
        </p:txBody>
      </p:sp>
      <p:sp>
        <p:nvSpPr>
          <p:cNvPr id="15" name="Shape 9"/>
          <p:cNvSpPr/>
          <p:nvPr/>
        </p:nvSpPr>
        <p:spPr>
          <a:xfrm>
            <a:off x="661475" y="4844157"/>
            <a:ext cx="10868745" cy="1058366"/>
          </a:xfrm>
          <a:prstGeom prst="roundRect">
            <a:avLst>
              <a:gd name="adj" fmla="val 2679"/>
            </a:avLst>
          </a:prstGeom>
          <a:solidFill>
            <a:srgbClr val="D4F7EC"/>
          </a:solidFill>
          <a:ln/>
        </p:spPr>
      </p:sp>
      <p:pic>
        <p:nvPicPr>
          <p:cNvPr id="16" name="Image 4" descr="preencoded.png"/>
          <p:cNvPicPr>
            <a:picLocks noChangeAspect="1"/>
          </p:cNvPicPr>
          <p:nvPr/>
        </p:nvPicPr>
        <p:blipFill>
          <a:blip r:embed="rId7"/>
          <a:stretch>
            <a:fillRect/>
          </a:stretch>
        </p:blipFill>
        <p:spPr>
          <a:xfrm>
            <a:off x="850482" y="5111849"/>
            <a:ext cx="236234" cy="189012"/>
          </a:xfrm>
          <a:prstGeom prst="rect">
            <a:avLst/>
          </a:prstGeom>
        </p:spPr>
      </p:pic>
      <p:sp>
        <p:nvSpPr>
          <p:cNvPr id="17" name="Text 10"/>
          <p:cNvSpPr/>
          <p:nvPr/>
        </p:nvSpPr>
        <p:spPr>
          <a:xfrm>
            <a:off x="1275723" y="5080397"/>
            <a:ext cx="10065490" cy="604838"/>
          </a:xfrm>
          <a:prstGeom prst="rect">
            <a:avLst/>
          </a:prstGeom>
          <a:noFill/>
          <a:ln/>
        </p:spPr>
        <p:txBody>
          <a:bodyPr wrap="square" lIns="0" tIns="0" rIns="0" bIns="0" rtlCol="0" anchor="t">
            <a:normAutofit/>
          </a:bodyPr>
          <a:lstStyle/>
          <a:p>
            <a:pPr marL="0" indent="0" algn="l">
              <a:lnSpc>
                <a:spcPct val="133000"/>
              </a:lnSpc>
              <a:buNone/>
            </a:pPr>
            <a:r>
              <a:rPr lang="en-US" sz="1450" b="1" dirty="0">
                <a:solidFill>
                  <a:srgbClr val="000000"/>
                </a:solidFill>
                <a:latin typeface="Inter Bold" pitchFamily="34" charset="0"/>
                <a:ea typeface="Inter Bold" pitchFamily="34" charset="-122"/>
                <a:cs typeface="Inter Bold" pitchFamily="34" charset="-120"/>
              </a:rPr>
              <a:t>System Workflow:</a:t>
            </a:r>
            <a:r>
              <a:rPr lang="en-US" sz="1450" dirty="0">
                <a:solidFill>
                  <a:srgbClr val="000000"/>
                </a:solidFill>
                <a:latin typeface="Inter Medium" pitchFamily="34" charset="0"/>
                <a:ea typeface="Inter Medium" pitchFamily="34" charset="-122"/>
                <a:cs typeface="Inter Medium" pitchFamily="34" charset="-120"/>
              </a:rPr>
              <a:t> Hand Gesture → Camera → Image Processing → AI/ML Model → Recognized Sign → Text/Speech</a:t>
            </a:r>
            <a:endParaRPr lang="en-US" sz="1450" dirty="0"/>
          </a:p>
        </p:txBody>
      </p:sp>
      <mc:AlternateContent xmlns:mc="http://schemas.openxmlformats.org/markup-compatibility/2006" xmlns:p14="http://schemas.microsoft.com/office/powerpoint/2010/main">
        <mc:Choice Requires="p14">
          <p:contentPart p14:bwMode="auto" r:id="rId8">
            <p14:nvContentPartPr>
              <p14:cNvPr id="19" name="Ink 18">
                <a:extLst>
                  <a:ext uri="{FF2B5EF4-FFF2-40B4-BE49-F238E27FC236}">
                    <a16:creationId xmlns:a16="http://schemas.microsoft.com/office/drawing/2014/main" id="{5CDA847E-F365-B23C-1CA6-F3D884DA44F5}"/>
                  </a:ext>
                </a:extLst>
              </p14:cNvPr>
              <p14:cNvContentPartPr/>
              <p14:nvPr/>
            </p14:nvContentPartPr>
            <p14:xfrm>
              <a:off x="11121003" y="6614679"/>
              <a:ext cx="922680" cy="66240"/>
            </p14:xfrm>
          </p:contentPart>
        </mc:Choice>
        <mc:Fallback xmlns="">
          <p:pic>
            <p:nvPicPr>
              <p:cNvPr id="19" name="Ink 18">
                <a:extLst>
                  <a:ext uri="{FF2B5EF4-FFF2-40B4-BE49-F238E27FC236}">
                    <a16:creationId xmlns:a16="http://schemas.microsoft.com/office/drawing/2014/main" id="{5CDA847E-F365-B23C-1CA6-F3D884DA44F5}"/>
                  </a:ext>
                </a:extLst>
              </p:cNvPr>
              <p:cNvPicPr/>
              <p:nvPr/>
            </p:nvPicPr>
            <p:blipFill>
              <a:blip r:embed="rId9"/>
              <a:stretch>
                <a:fillRect/>
              </a:stretch>
            </p:blipFill>
            <p:spPr>
              <a:xfrm>
                <a:off x="11058003" y="6551679"/>
                <a:ext cx="1048320" cy="1918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0" name="Ink 19">
                <a:extLst>
                  <a:ext uri="{FF2B5EF4-FFF2-40B4-BE49-F238E27FC236}">
                    <a16:creationId xmlns:a16="http://schemas.microsoft.com/office/drawing/2014/main" id="{56BD2D03-677E-F063-A373-A710B727E964}"/>
                  </a:ext>
                </a:extLst>
              </p14:cNvPr>
              <p14:cNvContentPartPr/>
              <p14:nvPr/>
            </p14:nvContentPartPr>
            <p14:xfrm>
              <a:off x="11038203" y="6713679"/>
              <a:ext cx="1038600" cy="33480"/>
            </p14:xfrm>
          </p:contentPart>
        </mc:Choice>
        <mc:Fallback xmlns="">
          <p:pic>
            <p:nvPicPr>
              <p:cNvPr id="20" name="Ink 19">
                <a:extLst>
                  <a:ext uri="{FF2B5EF4-FFF2-40B4-BE49-F238E27FC236}">
                    <a16:creationId xmlns:a16="http://schemas.microsoft.com/office/drawing/2014/main" id="{56BD2D03-677E-F063-A373-A710B727E964}"/>
                  </a:ext>
                </a:extLst>
              </p:cNvPr>
              <p:cNvPicPr/>
              <p:nvPr/>
            </p:nvPicPr>
            <p:blipFill>
              <a:blip r:embed="rId11"/>
              <a:stretch>
                <a:fillRect/>
              </a:stretch>
            </p:blipFill>
            <p:spPr>
              <a:xfrm>
                <a:off x="10975563" y="6650679"/>
                <a:ext cx="1164240" cy="159120"/>
              </a:xfrm>
              <a:prstGeom prst="rect">
                <a:avLst/>
              </a:prstGeom>
            </p:spPr>
          </p:pic>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4571886" cy="6858000"/>
          </a:xfrm>
          <a:prstGeom prst="rect">
            <a:avLst/>
          </a:prstGeom>
          <a:solidFill>
            <a:srgbClr val="F2EEEE"/>
          </a:solidFill>
          <a:ln/>
        </p:spPr>
      </p:sp>
      <p:pic>
        <p:nvPicPr>
          <p:cNvPr id="3" name="Image 0" descr="preencoded.png"/>
          <p:cNvPicPr>
            <a:picLocks noChangeAspect="1"/>
          </p:cNvPicPr>
          <p:nvPr/>
        </p:nvPicPr>
        <p:blipFill>
          <a:blip r:embed="rId3"/>
          <a:stretch>
            <a:fillRect/>
          </a:stretch>
        </p:blipFill>
        <p:spPr>
          <a:xfrm>
            <a:off x="80266" y="488057"/>
            <a:ext cx="4411254" cy="5881886"/>
          </a:xfrm>
          <a:prstGeom prst="rect">
            <a:avLst/>
          </a:prstGeom>
        </p:spPr>
      </p:pic>
      <p:sp>
        <p:nvSpPr>
          <p:cNvPr id="4" name="Text 1"/>
          <p:cNvSpPr/>
          <p:nvPr/>
        </p:nvSpPr>
        <p:spPr>
          <a:xfrm>
            <a:off x="5233360" y="754856"/>
            <a:ext cx="6296860" cy="502047"/>
          </a:xfrm>
          <a:prstGeom prst="rect">
            <a:avLst/>
          </a:prstGeom>
          <a:noFill/>
          <a:ln/>
        </p:spPr>
        <p:txBody>
          <a:bodyPr wrap="none" lIns="0" tIns="0" rIns="0" bIns="0" rtlCol="0" anchor="t"/>
          <a:lstStyle/>
          <a:p>
            <a:pPr marL="0" indent="0" algn="l">
              <a:lnSpc>
                <a:spcPct val="104000"/>
              </a:lnSpc>
              <a:buNone/>
            </a:pPr>
            <a:r>
              <a:rPr lang="en-US" sz="3150" dirty="0">
                <a:solidFill>
                  <a:srgbClr val="030303"/>
                </a:solidFill>
                <a:latin typeface="DM Sans SemiBold" pitchFamily="34" charset="0"/>
                <a:ea typeface="DM Sans SemiBold" pitchFamily="34" charset="-122"/>
                <a:cs typeface="DM Sans SemiBold" pitchFamily="34" charset="-120"/>
              </a:rPr>
              <a:t>Problem Statement</a:t>
            </a:r>
            <a:endParaRPr lang="en-US" sz="3150" dirty="0"/>
          </a:p>
        </p:txBody>
      </p:sp>
      <p:sp>
        <p:nvSpPr>
          <p:cNvPr id="5" name="Text 2"/>
          <p:cNvSpPr/>
          <p:nvPr/>
        </p:nvSpPr>
        <p:spPr>
          <a:xfrm>
            <a:off x="5233360" y="1598216"/>
            <a:ext cx="2952478" cy="251023"/>
          </a:xfrm>
          <a:prstGeom prst="rect">
            <a:avLst/>
          </a:prstGeom>
          <a:noFill/>
          <a:ln/>
        </p:spPr>
        <p:txBody>
          <a:bodyPr wrap="none" lIns="0" tIns="0" rIns="0" bIns="0" rtlCol="0" anchor="t"/>
          <a:lstStyle/>
          <a:p>
            <a:pPr marL="0" indent="0" algn="l">
              <a:lnSpc>
                <a:spcPct val="104000"/>
              </a:lnSpc>
              <a:buNone/>
            </a:pPr>
            <a:r>
              <a:rPr lang="en-US" sz="1550" dirty="0">
                <a:solidFill>
                  <a:srgbClr val="030303"/>
                </a:solidFill>
                <a:latin typeface="DM Sans SemiBold" pitchFamily="34" charset="0"/>
                <a:ea typeface="DM Sans SemiBold" pitchFamily="34" charset="-122"/>
                <a:cs typeface="DM Sans SemiBold" pitchFamily="34" charset="-120"/>
              </a:rPr>
              <a:t>The Challenge</a:t>
            </a:r>
            <a:endParaRPr lang="en-US" sz="1550" dirty="0"/>
          </a:p>
        </p:txBody>
      </p:sp>
      <p:sp>
        <p:nvSpPr>
          <p:cNvPr id="6" name="Text 3"/>
          <p:cNvSpPr/>
          <p:nvPr/>
        </p:nvSpPr>
        <p:spPr>
          <a:xfrm>
            <a:off x="5233360" y="1985764"/>
            <a:ext cx="2952478" cy="950912"/>
          </a:xfrm>
          <a:prstGeom prst="rect">
            <a:avLst/>
          </a:prstGeom>
          <a:noFill/>
          <a:ln/>
        </p:spPr>
        <p:txBody>
          <a:bodyPr wrap="square" lIns="0" tIns="0" rIns="0" bIns="0" rtlCol="0" anchor="t">
            <a:normAutofit/>
          </a:bodyPr>
          <a:lstStyle/>
          <a:p>
            <a:pPr marL="0" indent="0" algn="l">
              <a:lnSpc>
                <a:spcPct val="123000"/>
              </a:lnSpc>
              <a:buNone/>
            </a:pPr>
            <a:r>
              <a:rPr lang="en-US" sz="1250" dirty="0">
                <a:solidFill>
                  <a:srgbClr val="464646"/>
                </a:solidFill>
                <a:latin typeface="Inter Medium" pitchFamily="34" charset="0"/>
                <a:ea typeface="Inter Medium" pitchFamily="34" charset="-122"/>
                <a:cs typeface="Inter Medium" pitchFamily="34" charset="-120"/>
              </a:rPr>
              <a:t>People who communicate using sign language face significant difficulties when interacting with those who do not understand it.</a:t>
            </a:r>
            <a:endParaRPr lang="en-US" sz="1250" dirty="0"/>
          </a:p>
        </p:txBody>
      </p:sp>
      <p:sp>
        <p:nvSpPr>
          <p:cNvPr id="7" name="Text 4"/>
          <p:cNvSpPr/>
          <p:nvPr/>
        </p:nvSpPr>
        <p:spPr>
          <a:xfrm>
            <a:off x="5233360" y="3059509"/>
            <a:ext cx="2952478" cy="2995910"/>
          </a:xfrm>
          <a:prstGeom prst="rect">
            <a:avLst/>
          </a:prstGeom>
          <a:noFill/>
          <a:ln/>
        </p:spPr>
        <p:txBody>
          <a:bodyPr wrap="square" lIns="0" tIns="64266" rIns="0" bIns="0" rtlCol="0" anchor="t">
            <a:normAutofit/>
          </a:bodyPr>
          <a:lstStyle/>
          <a:p>
            <a:pPr marL="254000" indent="-254000" algn="l">
              <a:lnSpc>
                <a:spcPct val="123000"/>
              </a:lnSpc>
              <a:buSzPct val="100000"/>
              <a:buChar char="•"/>
            </a:pPr>
            <a:r>
              <a:rPr lang="en-US" sz="1250" b="1" dirty="0">
                <a:solidFill>
                  <a:srgbClr val="464646"/>
                </a:solidFill>
                <a:latin typeface="Inter Bold" pitchFamily="34" charset="0"/>
                <a:ea typeface="Inter Bold" pitchFamily="34" charset="-122"/>
                <a:cs typeface="Inter Bold" pitchFamily="34" charset="-120"/>
              </a:rPr>
              <a:t>Communication Barriers:</a:t>
            </a:r>
            <a:r>
              <a:rPr lang="en-US" sz="1250" dirty="0">
                <a:solidFill>
                  <a:srgbClr val="464646"/>
                </a:solidFill>
                <a:latin typeface="Inter Medium" pitchFamily="34" charset="0"/>
                <a:ea typeface="Inter Medium" pitchFamily="34" charset="-122"/>
                <a:cs typeface="Inter Medium" pitchFamily="34" charset="-120"/>
              </a:rPr>
              <a:t> Limited accessibility in public spaces, education, and healthcare</a:t>
            </a:r>
            <a:endParaRPr lang="en-US" sz="1250" dirty="0"/>
          </a:p>
          <a:p>
            <a:pPr marL="254000" indent="-254000" algn="l">
              <a:lnSpc>
                <a:spcPct val="123000"/>
              </a:lnSpc>
              <a:buSzPct val="100000"/>
              <a:buChar char="•"/>
            </a:pPr>
            <a:r>
              <a:rPr lang="en-US" sz="1250" b="1" dirty="0">
                <a:solidFill>
                  <a:srgbClr val="464646"/>
                </a:solidFill>
                <a:latin typeface="Inter Bold" pitchFamily="34" charset="0"/>
                <a:ea typeface="Inter Bold" pitchFamily="34" charset="-122"/>
                <a:cs typeface="Inter Bold" pitchFamily="34" charset="-120"/>
              </a:rPr>
              <a:t>Lack of Translators:</a:t>
            </a:r>
            <a:r>
              <a:rPr lang="en-US" sz="1250" dirty="0">
                <a:solidFill>
                  <a:srgbClr val="464646"/>
                </a:solidFill>
                <a:latin typeface="Inter Medium" pitchFamily="34" charset="0"/>
                <a:ea typeface="Inter Medium" pitchFamily="34" charset="-122"/>
                <a:cs typeface="Inter Medium" pitchFamily="34" charset="-120"/>
              </a:rPr>
              <a:t> Professional interpreters are expensive and not always available</a:t>
            </a:r>
            <a:endParaRPr lang="en-US" sz="1250" dirty="0"/>
          </a:p>
          <a:p>
            <a:pPr marL="254000" indent="-254000" algn="l">
              <a:lnSpc>
                <a:spcPct val="123000"/>
              </a:lnSpc>
              <a:buSzPct val="100000"/>
              <a:buChar char="•"/>
            </a:pPr>
            <a:r>
              <a:rPr lang="en-US" sz="1250" b="1" dirty="0">
                <a:solidFill>
                  <a:srgbClr val="464646"/>
                </a:solidFill>
                <a:latin typeface="Inter Bold" pitchFamily="34" charset="0"/>
                <a:ea typeface="Inter Bold" pitchFamily="34" charset="-122"/>
                <a:cs typeface="Inter Bold" pitchFamily="34" charset="-120"/>
              </a:rPr>
              <a:t>Need for Real-Time:</a:t>
            </a:r>
            <a:r>
              <a:rPr lang="en-US" sz="1250" dirty="0">
                <a:solidFill>
                  <a:srgbClr val="464646"/>
                </a:solidFill>
                <a:latin typeface="Inter Medium" pitchFamily="34" charset="0"/>
                <a:ea typeface="Inter Medium" pitchFamily="34" charset="-122"/>
                <a:cs typeface="Inter Medium" pitchFamily="34" charset="-120"/>
              </a:rPr>
              <a:t> Manual translation is too slow for practical use</a:t>
            </a:r>
            <a:endParaRPr lang="en-US" sz="1250" dirty="0"/>
          </a:p>
          <a:p>
            <a:pPr marL="254000" indent="-254000" algn="l">
              <a:lnSpc>
                <a:spcPct val="123000"/>
              </a:lnSpc>
              <a:buSzPct val="100000"/>
              <a:buChar char="•"/>
            </a:pPr>
            <a:r>
              <a:rPr lang="en-US" sz="1250" b="1" dirty="0">
                <a:solidFill>
                  <a:srgbClr val="464646"/>
                </a:solidFill>
                <a:latin typeface="Inter Bold" pitchFamily="34" charset="0"/>
                <a:ea typeface="Inter Bold" pitchFamily="34" charset="-122"/>
                <a:cs typeface="Inter Bold" pitchFamily="34" charset="-120"/>
              </a:rPr>
              <a:t>Affordability:</a:t>
            </a:r>
            <a:r>
              <a:rPr lang="en-US" sz="1250" dirty="0">
                <a:solidFill>
                  <a:srgbClr val="464646"/>
                </a:solidFill>
                <a:latin typeface="Inter Medium" pitchFamily="34" charset="0"/>
                <a:ea typeface="Inter Medium" pitchFamily="34" charset="-122"/>
                <a:cs typeface="Inter Medium" pitchFamily="34" charset="-120"/>
              </a:rPr>
              <a:t> A cost-effective solution is essential for widespread adoption</a:t>
            </a:r>
            <a:endParaRPr lang="en-US" sz="1250" dirty="0"/>
          </a:p>
        </p:txBody>
      </p:sp>
      <p:sp>
        <p:nvSpPr>
          <p:cNvPr id="8" name="Shape 5"/>
          <p:cNvSpPr/>
          <p:nvPr/>
        </p:nvSpPr>
        <p:spPr>
          <a:xfrm>
            <a:off x="8468406" y="1461691"/>
            <a:ext cx="3183850" cy="4641453"/>
          </a:xfrm>
          <a:prstGeom prst="roundRect">
            <a:avLst>
              <a:gd name="adj" fmla="val 757"/>
            </a:avLst>
          </a:prstGeom>
          <a:solidFill>
            <a:srgbClr val="1C9770"/>
          </a:solidFill>
          <a:ln/>
        </p:spPr>
      </p:sp>
      <p:sp>
        <p:nvSpPr>
          <p:cNvPr id="9" name="Text 6"/>
          <p:cNvSpPr/>
          <p:nvPr/>
        </p:nvSpPr>
        <p:spPr>
          <a:xfrm>
            <a:off x="8629037" y="1598216"/>
            <a:ext cx="2862588" cy="251023"/>
          </a:xfrm>
          <a:prstGeom prst="rect">
            <a:avLst/>
          </a:prstGeom>
          <a:noFill/>
          <a:ln/>
        </p:spPr>
        <p:txBody>
          <a:bodyPr wrap="none" lIns="0" tIns="0" rIns="0" bIns="0" rtlCol="0" anchor="t"/>
          <a:lstStyle/>
          <a:p>
            <a:pPr marL="0" indent="0" algn="l">
              <a:lnSpc>
                <a:spcPct val="104000"/>
              </a:lnSpc>
              <a:buNone/>
            </a:pPr>
            <a:r>
              <a:rPr lang="en-US" sz="1550" dirty="0">
                <a:solidFill>
                  <a:srgbClr val="030303"/>
                </a:solidFill>
                <a:latin typeface="DM Sans SemiBold" pitchFamily="34" charset="0"/>
                <a:ea typeface="DM Sans SemiBold" pitchFamily="34" charset="-122"/>
                <a:cs typeface="DM Sans SemiBold" pitchFamily="34" charset="-120"/>
              </a:rPr>
              <a:t>The Solution</a:t>
            </a:r>
            <a:endParaRPr lang="en-US" sz="1550" dirty="0"/>
          </a:p>
        </p:txBody>
      </p:sp>
      <p:sp>
        <p:nvSpPr>
          <p:cNvPr id="10" name="Text 7"/>
          <p:cNvSpPr/>
          <p:nvPr/>
        </p:nvSpPr>
        <p:spPr>
          <a:xfrm>
            <a:off x="8629037" y="1985764"/>
            <a:ext cx="2862588" cy="1188641"/>
          </a:xfrm>
          <a:prstGeom prst="rect">
            <a:avLst/>
          </a:prstGeom>
          <a:noFill/>
          <a:ln/>
        </p:spPr>
        <p:txBody>
          <a:bodyPr wrap="square" lIns="0" tIns="0" rIns="0" bIns="0" rtlCol="0" anchor="t">
            <a:normAutofit/>
          </a:bodyPr>
          <a:lstStyle/>
          <a:p>
            <a:pPr marL="0" indent="0" algn="l">
              <a:lnSpc>
                <a:spcPct val="123000"/>
              </a:lnSpc>
              <a:buNone/>
            </a:pPr>
            <a:r>
              <a:rPr lang="en-US" sz="1250" dirty="0">
                <a:solidFill>
                  <a:srgbClr val="000000"/>
                </a:solidFill>
                <a:latin typeface="Inter Medium" pitchFamily="34" charset="0"/>
                <a:ea typeface="Inter Medium" pitchFamily="34" charset="-122"/>
                <a:cs typeface="Inter Medium" pitchFamily="34" charset="-120"/>
              </a:rPr>
              <a:t>An </a:t>
            </a:r>
            <a:r>
              <a:rPr lang="en-US" sz="1250" b="1" dirty="0">
                <a:solidFill>
                  <a:srgbClr val="000000"/>
                </a:solidFill>
                <a:latin typeface="Inter Bold" pitchFamily="34" charset="0"/>
                <a:ea typeface="Inter Bold" pitchFamily="34" charset="-122"/>
                <a:cs typeface="Inter Bold" pitchFamily="34" charset="-120"/>
              </a:rPr>
              <a:t>automated real-time system</a:t>
            </a:r>
            <a:r>
              <a:rPr lang="en-US" sz="1250" dirty="0">
                <a:solidFill>
                  <a:srgbClr val="000000"/>
                </a:solidFill>
                <a:latin typeface="Inter Medium" pitchFamily="34" charset="0"/>
                <a:ea typeface="Inter Medium" pitchFamily="34" charset="-122"/>
                <a:cs typeface="Inter Medium" pitchFamily="34" charset="-120"/>
              </a:rPr>
              <a:t> that recognizes sign language gestures and converts them into understandable </a:t>
            </a:r>
            <a:r>
              <a:rPr lang="en-US" sz="1250" b="1" dirty="0">
                <a:solidFill>
                  <a:srgbClr val="000000"/>
                </a:solidFill>
                <a:latin typeface="Inter Bold" pitchFamily="34" charset="0"/>
                <a:ea typeface="Inter Bold" pitchFamily="34" charset="-122"/>
                <a:cs typeface="Inter Bold" pitchFamily="34" charset="-120"/>
              </a:rPr>
              <a:t>text or speech</a:t>
            </a:r>
            <a:r>
              <a:rPr lang="en-US" sz="1250" dirty="0">
                <a:solidFill>
                  <a:srgbClr val="000000"/>
                </a:solidFill>
                <a:latin typeface="Inter Medium" pitchFamily="34" charset="0"/>
                <a:ea typeface="Inter Medium" pitchFamily="34" charset="-122"/>
                <a:cs typeface="Inter Medium" pitchFamily="34" charset="-120"/>
              </a:rPr>
              <a:t>  accessible to everyone, anywhere.</a:t>
            </a:r>
            <a:endParaRPr lang="en-US" sz="1250" dirty="0"/>
          </a:p>
        </p:txBody>
      </p:sp>
      <mc:AlternateContent xmlns:mc="http://schemas.openxmlformats.org/markup-compatibility/2006" xmlns:p14="http://schemas.microsoft.com/office/powerpoint/2010/main">
        <mc:Choice Requires="p14">
          <p:contentPart p14:bwMode="auto" r:id="rId4">
            <p14:nvContentPartPr>
              <p14:cNvPr id="12" name="Ink 11">
                <a:extLst>
                  <a:ext uri="{FF2B5EF4-FFF2-40B4-BE49-F238E27FC236}">
                    <a16:creationId xmlns:a16="http://schemas.microsoft.com/office/drawing/2014/main" id="{FA4F5FC0-0B91-94D4-A358-A61E4FD6588D}"/>
                  </a:ext>
                </a:extLst>
              </p14:cNvPr>
              <p14:cNvContentPartPr/>
              <p14:nvPr/>
            </p14:nvContentPartPr>
            <p14:xfrm>
              <a:off x="11121003" y="6614679"/>
              <a:ext cx="955800" cy="82800"/>
            </p14:xfrm>
          </p:contentPart>
        </mc:Choice>
        <mc:Fallback xmlns="">
          <p:pic>
            <p:nvPicPr>
              <p:cNvPr id="12" name="Ink 11">
                <a:extLst>
                  <a:ext uri="{FF2B5EF4-FFF2-40B4-BE49-F238E27FC236}">
                    <a16:creationId xmlns:a16="http://schemas.microsoft.com/office/drawing/2014/main" id="{FA4F5FC0-0B91-94D4-A358-A61E4FD6588D}"/>
                  </a:ext>
                </a:extLst>
              </p:cNvPr>
              <p:cNvPicPr/>
              <p:nvPr/>
            </p:nvPicPr>
            <p:blipFill>
              <a:blip r:embed="rId5"/>
              <a:stretch>
                <a:fillRect/>
              </a:stretch>
            </p:blipFill>
            <p:spPr>
              <a:xfrm>
                <a:off x="11058003" y="6551679"/>
                <a:ext cx="1081440" cy="2084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4" name="Ink 13">
                <a:extLst>
                  <a:ext uri="{FF2B5EF4-FFF2-40B4-BE49-F238E27FC236}">
                    <a16:creationId xmlns:a16="http://schemas.microsoft.com/office/drawing/2014/main" id="{495CC0A1-944A-7546-2944-FCBDB76C8E98}"/>
                  </a:ext>
                </a:extLst>
              </p14:cNvPr>
              <p14:cNvContentPartPr/>
              <p14:nvPr/>
            </p14:nvContentPartPr>
            <p14:xfrm>
              <a:off x="11203083" y="6639519"/>
              <a:ext cx="882000" cy="57960"/>
            </p14:xfrm>
          </p:contentPart>
        </mc:Choice>
        <mc:Fallback xmlns="">
          <p:pic>
            <p:nvPicPr>
              <p:cNvPr id="14" name="Ink 13">
                <a:extLst>
                  <a:ext uri="{FF2B5EF4-FFF2-40B4-BE49-F238E27FC236}">
                    <a16:creationId xmlns:a16="http://schemas.microsoft.com/office/drawing/2014/main" id="{495CC0A1-944A-7546-2944-FCBDB76C8E98}"/>
                  </a:ext>
                </a:extLst>
              </p:cNvPr>
              <p:cNvPicPr/>
              <p:nvPr/>
            </p:nvPicPr>
            <p:blipFill>
              <a:blip r:embed="rId7"/>
              <a:stretch>
                <a:fillRect/>
              </a:stretch>
            </p:blipFill>
            <p:spPr>
              <a:xfrm>
                <a:off x="11140443" y="6576519"/>
                <a:ext cx="1007640" cy="183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5" name="Ink 14">
                <a:extLst>
                  <a:ext uri="{FF2B5EF4-FFF2-40B4-BE49-F238E27FC236}">
                    <a16:creationId xmlns:a16="http://schemas.microsoft.com/office/drawing/2014/main" id="{92641DB3-C3F2-AF67-F1DC-31ACBC8C4E79}"/>
                  </a:ext>
                </a:extLst>
              </p14:cNvPr>
              <p14:cNvContentPartPr/>
              <p14:nvPr/>
            </p14:nvContentPartPr>
            <p14:xfrm>
              <a:off x="11252403" y="6713679"/>
              <a:ext cx="709200" cy="25920"/>
            </p14:xfrm>
          </p:contentPart>
        </mc:Choice>
        <mc:Fallback xmlns="">
          <p:pic>
            <p:nvPicPr>
              <p:cNvPr id="15" name="Ink 14">
                <a:extLst>
                  <a:ext uri="{FF2B5EF4-FFF2-40B4-BE49-F238E27FC236}">
                    <a16:creationId xmlns:a16="http://schemas.microsoft.com/office/drawing/2014/main" id="{92641DB3-C3F2-AF67-F1DC-31ACBC8C4E79}"/>
                  </a:ext>
                </a:extLst>
              </p:cNvPr>
              <p:cNvPicPr/>
              <p:nvPr/>
            </p:nvPicPr>
            <p:blipFill>
              <a:blip r:embed="rId9"/>
              <a:stretch>
                <a:fillRect/>
              </a:stretch>
            </p:blipFill>
            <p:spPr>
              <a:xfrm>
                <a:off x="11189403" y="6650679"/>
                <a:ext cx="834840" cy="151560"/>
              </a:xfrm>
              <a:prstGeom prst="rect">
                <a:avLst/>
              </a:prstGeom>
            </p:spPr>
          </p:pic>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700584"/>
            <a:ext cx="10868745" cy="561181"/>
          </a:xfrm>
          <a:prstGeom prst="rect">
            <a:avLst/>
          </a:prstGeom>
          <a:noFill/>
          <a:ln/>
        </p:spPr>
        <p:txBody>
          <a:bodyPr wrap="none" lIns="0" tIns="0" rIns="0" bIns="0" rtlCol="0" anchor="t"/>
          <a:lstStyle/>
          <a:p>
            <a:pPr marL="0" indent="0" algn="l">
              <a:lnSpc>
                <a:spcPct val="104000"/>
              </a:lnSpc>
              <a:buNone/>
            </a:pPr>
            <a:r>
              <a:rPr lang="en-US" sz="3500" dirty="0">
                <a:solidFill>
                  <a:srgbClr val="030303"/>
                </a:solidFill>
                <a:latin typeface="DM Sans SemiBold" pitchFamily="34" charset="0"/>
                <a:ea typeface="DM Sans SemiBold" pitchFamily="34" charset="-122"/>
                <a:cs typeface="DM Sans SemiBold" pitchFamily="34" charset="-120"/>
              </a:rPr>
              <a:t>Objectives</a:t>
            </a:r>
            <a:endParaRPr lang="en-US" sz="3500" dirty="0"/>
          </a:p>
        </p:txBody>
      </p:sp>
      <p:sp>
        <p:nvSpPr>
          <p:cNvPr id="3" name="Text 1"/>
          <p:cNvSpPr/>
          <p:nvPr/>
        </p:nvSpPr>
        <p:spPr>
          <a:xfrm>
            <a:off x="661475" y="1602879"/>
            <a:ext cx="359064" cy="224433"/>
          </a:xfrm>
          <a:prstGeom prst="rect">
            <a:avLst/>
          </a:prstGeom>
          <a:noFill/>
          <a:ln/>
        </p:spPr>
        <p:txBody>
          <a:bodyPr wrap="none" lIns="0" tIns="0" rIns="0" bIns="0" rtlCol="0" anchor="ctr"/>
          <a:lstStyle/>
          <a:p>
            <a:pPr marL="0" indent="0" algn="l">
              <a:lnSpc>
                <a:spcPct val="100000"/>
              </a:lnSpc>
              <a:buNone/>
            </a:pPr>
            <a:r>
              <a:rPr lang="en-US" sz="1400" dirty="0">
                <a:solidFill>
                  <a:srgbClr val="464646"/>
                </a:solidFill>
                <a:latin typeface="DM Sans Light" pitchFamily="34" charset="0"/>
                <a:ea typeface="DM Sans Light" pitchFamily="34" charset="-122"/>
                <a:cs typeface="DM Sans Light" pitchFamily="34" charset="-120"/>
              </a:rPr>
              <a:t>01</a:t>
            </a:r>
            <a:endParaRPr lang="en-US" sz="1400" dirty="0"/>
          </a:p>
        </p:txBody>
      </p:sp>
      <p:sp>
        <p:nvSpPr>
          <p:cNvPr id="4" name="Shape 2"/>
          <p:cNvSpPr/>
          <p:nvPr/>
        </p:nvSpPr>
        <p:spPr>
          <a:xfrm>
            <a:off x="661475" y="1882577"/>
            <a:ext cx="5349047" cy="25400"/>
          </a:xfrm>
          <a:prstGeom prst="rect">
            <a:avLst/>
          </a:prstGeom>
          <a:solidFill>
            <a:srgbClr val="1C9770"/>
          </a:solidFill>
          <a:ln/>
        </p:spPr>
      </p:sp>
      <p:sp>
        <p:nvSpPr>
          <p:cNvPr id="5" name="Text 3"/>
          <p:cNvSpPr/>
          <p:nvPr/>
        </p:nvSpPr>
        <p:spPr>
          <a:xfrm>
            <a:off x="661475" y="2023070"/>
            <a:ext cx="5349047" cy="280491"/>
          </a:xfrm>
          <a:prstGeom prst="rect">
            <a:avLst/>
          </a:prstGeom>
          <a:noFill/>
          <a:ln/>
        </p:spPr>
        <p:txBody>
          <a:bodyPr wrap="none" lIns="0" tIns="0" rIns="0" bIns="0" rtlCol="0" anchor="t"/>
          <a:lstStyle/>
          <a:p>
            <a:pPr marL="0" indent="0" algn="l">
              <a:lnSpc>
                <a:spcPct val="104000"/>
              </a:lnSpc>
              <a:buNone/>
            </a:pPr>
            <a:r>
              <a:rPr lang="en-US" sz="1750" dirty="0">
                <a:solidFill>
                  <a:srgbClr val="464646"/>
                </a:solidFill>
                <a:latin typeface="DM Sans SemiBold" pitchFamily="34" charset="0"/>
                <a:ea typeface="DM Sans SemiBold" pitchFamily="34" charset="-122"/>
                <a:cs typeface="DM Sans SemiBold" pitchFamily="34" charset="-120"/>
              </a:rPr>
              <a:t>Capture Gestures</a:t>
            </a:r>
            <a:endParaRPr lang="en-US" sz="1750" dirty="0"/>
          </a:p>
        </p:txBody>
      </p:sp>
      <p:sp>
        <p:nvSpPr>
          <p:cNvPr id="6" name="Text 4"/>
          <p:cNvSpPr/>
          <p:nvPr/>
        </p:nvSpPr>
        <p:spPr>
          <a:xfrm>
            <a:off x="661475" y="2405856"/>
            <a:ext cx="5349047" cy="280095"/>
          </a:xfrm>
          <a:prstGeom prst="rect">
            <a:avLst/>
          </a:prstGeom>
          <a:noFill/>
          <a:ln/>
        </p:spPr>
        <p:txBody>
          <a:bodyPr wrap="none" lIns="0" tIns="0" rIns="0" bIns="0" rtlCol="0" anchor="t"/>
          <a:lstStyle/>
          <a:p>
            <a:pPr marL="0" indent="0" algn="l">
              <a:lnSpc>
                <a:spcPct val="130000"/>
              </a:lnSpc>
              <a:buNone/>
            </a:pPr>
            <a:r>
              <a:rPr lang="en-US" sz="1400" dirty="0">
                <a:solidFill>
                  <a:srgbClr val="464646"/>
                </a:solidFill>
                <a:latin typeface="Inter Medium" pitchFamily="34" charset="0"/>
                <a:ea typeface="Inter Medium" pitchFamily="34" charset="-122"/>
                <a:cs typeface="Inter Medium" pitchFamily="34" charset="-120"/>
              </a:rPr>
              <a:t>Capture sign-language gestures using a camera in real-time</a:t>
            </a:r>
            <a:endParaRPr lang="en-US" sz="1400" dirty="0"/>
          </a:p>
        </p:txBody>
      </p:sp>
      <p:sp>
        <p:nvSpPr>
          <p:cNvPr id="7" name="Text 5"/>
          <p:cNvSpPr/>
          <p:nvPr/>
        </p:nvSpPr>
        <p:spPr>
          <a:xfrm>
            <a:off x="6181074" y="1602879"/>
            <a:ext cx="359064" cy="224433"/>
          </a:xfrm>
          <a:prstGeom prst="rect">
            <a:avLst/>
          </a:prstGeom>
          <a:noFill/>
          <a:ln/>
        </p:spPr>
        <p:txBody>
          <a:bodyPr wrap="none" lIns="0" tIns="0" rIns="0" bIns="0" rtlCol="0" anchor="ctr"/>
          <a:lstStyle/>
          <a:p>
            <a:pPr marL="0" indent="0" algn="l">
              <a:lnSpc>
                <a:spcPct val="100000"/>
              </a:lnSpc>
              <a:buNone/>
            </a:pPr>
            <a:r>
              <a:rPr lang="en-US" sz="1400" dirty="0">
                <a:solidFill>
                  <a:srgbClr val="464646"/>
                </a:solidFill>
                <a:latin typeface="DM Sans Light" pitchFamily="34" charset="0"/>
                <a:ea typeface="DM Sans Light" pitchFamily="34" charset="-122"/>
                <a:cs typeface="DM Sans Light" pitchFamily="34" charset="-120"/>
              </a:rPr>
              <a:t>02</a:t>
            </a:r>
            <a:endParaRPr lang="en-US" sz="1400" dirty="0"/>
          </a:p>
        </p:txBody>
      </p:sp>
      <p:sp>
        <p:nvSpPr>
          <p:cNvPr id="8" name="Shape 6"/>
          <p:cNvSpPr/>
          <p:nvPr/>
        </p:nvSpPr>
        <p:spPr>
          <a:xfrm>
            <a:off x="6181074" y="1882577"/>
            <a:ext cx="5349146" cy="25400"/>
          </a:xfrm>
          <a:prstGeom prst="rect">
            <a:avLst/>
          </a:prstGeom>
          <a:solidFill>
            <a:srgbClr val="1C9770"/>
          </a:solidFill>
          <a:ln/>
        </p:spPr>
      </p:sp>
      <p:sp>
        <p:nvSpPr>
          <p:cNvPr id="9" name="Text 7"/>
          <p:cNvSpPr/>
          <p:nvPr/>
        </p:nvSpPr>
        <p:spPr>
          <a:xfrm>
            <a:off x="6181074" y="2023070"/>
            <a:ext cx="5349146" cy="280491"/>
          </a:xfrm>
          <a:prstGeom prst="rect">
            <a:avLst/>
          </a:prstGeom>
          <a:noFill/>
          <a:ln/>
        </p:spPr>
        <p:txBody>
          <a:bodyPr wrap="none" lIns="0" tIns="0" rIns="0" bIns="0" rtlCol="0" anchor="t"/>
          <a:lstStyle/>
          <a:p>
            <a:pPr marL="0" indent="0" algn="l">
              <a:lnSpc>
                <a:spcPct val="104000"/>
              </a:lnSpc>
              <a:buNone/>
            </a:pPr>
            <a:r>
              <a:rPr lang="en-US" sz="1750" dirty="0">
                <a:solidFill>
                  <a:srgbClr val="464646"/>
                </a:solidFill>
                <a:latin typeface="DM Sans SemiBold" pitchFamily="34" charset="0"/>
                <a:ea typeface="DM Sans SemiBold" pitchFamily="34" charset="-122"/>
                <a:cs typeface="DM Sans SemiBold" pitchFamily="34" charset="-120"/>
              </a:rPr>
              <a:t>Detect &amp; Process</a:t>
            </a:r>
            <a:endParaRPr lang="en-US" sz="1750" dirty="0"/>
          </a:p>
        </p:txBody>
      </p:sp>
      <p:sp>
        <p:nvSpPr>
          <p:cNvPr id="10" name="Text 8"/>
          <p:cNvSpPr/>
          <p:nvPr/>
        </p:nvSpPr>
        <p:spPr>
          <a:xfrm>
            <a:off x="6181074" y="2405856"/>
            <a:ext cx="5349146" cy="280095"/>
          </a:xfrm>
          <a:prstGeom prst="rect">
            <a:avLst/>
          </a:prstGeom>
          <a:noFill/>
          <a:ln/>
        </p:spPr>
        <p:txBody>
          <a:bodyPr wrap="none" lIns="0" tIns="0" rIns="0" bIns="0" rtlCol="0" anchor="t"/>
          <a:lstStyle/>
          <a:p>
            <a:pPr marL="0" indent="0" algn="l">
              <a:lnSpc>
                <a:spcPct val="130000"/>
              </a:lnSpc>
              <a:buNone/>
            </a:pPr>
            <a:r>
              <a:rPr lang="en-US" sz="1400" dirty="0">
                <a:solidFill>
                  <a:srgbClr val="464646"/>
                </a:solidFill>
                <a:latin typeface="Inter Medium" pitchFamily="34" charset="0"/>
                <a:ea typeface="Inter Medium" pitchFamily="34" charset="-122"/>
                <a:cs typeface="Inter Medium" pitchFamily="34" charset="-120"/>
              </a:rPr>
              <a:t>Detect and process hand gestures from video frames</a:t>
            </a:r>
            <a:endParaRPr lang="en-US" sz="1400" dirty="0"/>
          </a:p>
        </p:txBody>
      </p:sp>
      <p:sp>
        <p:nvSpPr>
          <p:cNvPr id="11" name="Text 9"/>
          <p:cNvSpPr/>
          <p:nvPr/>
        </p:nvSpPr>
        <p:spPr>
          <a:xfrm>
            <a:off x="661475" y="2991148"/>
            <a:ext cx="359064" cy="224433"/>
          </a:xfrm>
          <a:prstGeom prst="rect">
            <a:avLst/>
          </a:prstGeom>
          <a:noFill/>
          <a:ln/>
        </p:spPr>
        <p:txBody>
          <a:bodyPr wrap="none" lIns="0" tIns="0" rIns="0" bIns="0" rtlCol="0" anchor="ctr"/>
          <a:lstStyle/>
          <a:p>
            <a:pPr marL="0" indent="0" algn="l">
              <a:lnSpc>
                <a:spcPct val="100000"/>
              </a:lnSpc>
              <a:buNone/>
            </a:pPr>
            <a:r>
              <a:rPr lang="en-US" sz="1400" dirty="0">
                <a:solidFill>
                  <a:srgbClr val="464646"/>
                </a:solidFill>
                <a:latin typeface="DM Sans Light" pitchFamily="34" charset="0"/>
                <a:ea typeface="DM Sans Light" pitchFamily="34" charset="-122"/>
                <a:cs typeface="DM Sans Light" pitchFamily="34" charset="-120"/>
              </a:rPr>
              <a:t>03</a:t>
            </a:r>
            <a:endParaRPr lang="en-US" sz="1400" dirty="0"/>
          </a:p>
        </p:txBody>
      </p:sp>
      <p:sp>
        <p:nvSpPr>
          <p:cNvPr id="12" name="Shape 10"/>
          <p:cNvSpPr/>
          <p:nvPr/>
        </p:nvSpPr>
        <p:spPr>
          <a:xfrm>
            <a:off x="661475" y="3270845"/>
            <a:ext cx="5349047" cy="25400"/>
          </a:xfrm>
          <a:prstGeom prst="rect">
            <a:avLst/>
          </a:prstGeom>
          <a:solidFill>
            <a:srgbClr val="1C9770"/>
          </a:solidFill>
          <a:ln/>
        </p:spPr>
      </p:sp>
      <p:sp>
        <p:nvSpPr>
          <p:cNvPr id="13" name="Text 11"/>
          <p:cNvSpPr/>
          <p:nvPr/>
        </p:nvSpPr>
        <p:spPr>
          <a:xfrm>
            <a:off x="661475" y="3411339"/>
            <a:ext cx="5349047" cy="280491"/>
          </a:xfrm>
          <a:prstGeom prst="rect">
            <a:avLst/>
          </a:prstGeom>
          <a:noFill/>
          <a:ln/>
        </p:spPr>
        <p:txBody>
          <a:bodyPr wrap="none" lIns="0" tIns="0" rIns="0" bIns="0" rtlCol="0" anchor="t"/>
          <a:lstStyle/>
          <a:p>
            <a:pPr marL="0" indent="0" algn="l">
              <a:lnSpc>
                <a:spcPct val="104000"/>
              </a:lnSpc>
              <a:buNone/>
            </a:pPr>
            <a:r>
              <a:rPr lang="en-US" sz="1750" dirty="0">
                <a:solidFill>
                  <a:srgbClr val="464646"/>
                </a:solidFill>
                <a:latin typeface="DM Sans SemiBold" pitchFamily="34" charset="0"/>
                <a:ea typeface="DM Sans SemiBold" pitchFamily="34" charset="-122"/>
                <a:cs typeface="DM Sans SemiBold" pitchFamily="34" charset="-120"/>
              </a:rPr>
              <a:t>AI Classification</a:t>
            </a:r>
            <a:endParaRPr lang="en-US" sz="1750" dirty="0"/>
          </a:p>
        </p:txBody>
      </p:sp>
      <p:sp>
        <p:nvSpPr>
          <p:cNvPr id="14" name="Text 12"/>
          <p:cNvSpPr/>
          <p:nvPr/>
        </p:nvSpPr>
        <p:spPr>
          <a:xfrm>
            <a:off x="661475" y="3794125"/>
            <a:ext cx="5349047" cy="560189"/>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464646"/>
                </a:solidFill>
                <a:latin typeface="Inter Medium" pitchFamily="34" charset="0"/>
                <a:ea typeface="Inter Medium" pitchFamily="34" charset="-122"/>
                <a:cs typeface="Inter Medium" pitchFamily="34" charset="-120"/>
              </a:rPr>
              <a:t>Recognize individual signs using an AI/ML classification model</a:t>
            </a:r>
            <a:endParaRPr lang="en-US" sz="1400" dirty="0"/>
          </a:p>
        </p:txBody>
      </p:sp>
      <p:sp>
        <p:nvSpPr>
          <p:cNvPr id="15" name="Text 13"/>
          <p:cNvSpPr/>
          <p:nvPr/>
        </p:nvSpPr>
        <p:spPr>
          <a:xfrm>
            <a:off x="6181074" y="2991148"/>
            <a:ext cx="359064" cy="224433"/>
          </a:xfrm>
          <a:prstGeom prst="rect">
            <a:avLst/>
          </a:prstGeom>
          <a:noFill/>
          <a:ln/>
        </p:spPr>
        <p:txBody>
          <a:bodyPr wrap="none" lIns="0" tIns="0" rIns="0" bIns="0" rtlCol="0" anchor="ctr"/>
          <a:lstStyle/>
          <a:p>
            <a:pPr marL="0" indent="0" algn="l">
              <a:lnSpc>
                <a:spcPct val="100000"/>
              </a:lnSpc>
              <a:buNone/>
            </a:pPr>
            <a:r>
              <a:rPr lang="en-US" sz="1400" dirty="0">
                <a:solidFill>
                  <a:srgbClr val="464646"/>
                </a:solidFill>
                <a:latin typeface="DM Sans Light" pitchFamily="34" charset="0"/>
                <a:ea typeface="DM Sans Light" pitchFamily="34" charset="-122"/>
                <a:cs typeface="DM Sans Light" pitchFamily="34" charset="-120"/>
              </a:rPr>
              <a:t>04</a:t>
            </a:r>
            <a:endParaRPr lang="en-US" sz="1400" dirty="0"/>
          </a:p>
        </p:txBody>
      </p:sp>
      <p:sp>
        <p:nvSpPr>
          <p:cNvPr id="16" name="Shape 14"/>
          <p:cNvSpPr/>
          <p:nvPr/>
        </p:nvSpPr>
        <p:spPr>
          <a:xfrm>
            <a:off x="6181074" y="3270845"/>
            <a:ext cx="5349146" cy="25400"/>
          </a:xfrm>
          <a:prstGeom prst="rect">
            <a:avLst/>
          </a:prstGeom>
          <a:solidFill>
            <a:srgbClr val="1C9770"/>
          </a:solidFill>
          <a:ln/>
        </p:spPr>
      </p:sp>
      <p:sp>
        <p:nvSpPr>
          <p:cNvPr id="17" name="Text 15"/>
          <p:cNvSpPr/>
          <p:nvPr/>
        </p:nvSpPr>
        <p:spPr>
          <a:xfrm>
            <a:off x="6181074" y="3411339"/>
            <a:ext cx="5349146" cy="280491"/>
          </a:xfrm>
          <a:prstGeom prst="rect">
            <a:avLst/>
          </a:prstGeom>
          <a:noFill/>
          <a:ln/>
        </p:spPr>
        <p:txBody>
          <a:bodyPr wrap="none" lIns="0" tIns="0" rIns="0" bIns="0" rtlCol="0" anchor="t"/>
          <a:lstStyle/>
          <a:p>
            <a:pPr marL="0" indent="0" algn="l">
              <a:lnSpc>
                <a:spcPct val="104000"/>
              </a:lnSpc>
              <a:buNone/>
            </a:pPr>
            <a:r>
              <a:rPr lang="en-US" sz="1750" dirty="0">
                <a:solidFill>
                  <a:srgbClr val="464646"/>
                </a:solidFill>
                <a:latin typeface="DM Sans SemiBold" pitchFamily="34" charset="0"/>
                <a:ea typeface="DM Sans SemiBold" pitchFamily="34" charset="-122"/>
                <a:cs typeface="DM Sans SemiBold" pitchFamily="34" charset="-120"/>
              </a:rPr>
              <a:t>Text Output</a:t>
            </a:r>
            <a:endParaRPr lang="en-US" sz="1750" dirty="0"/>
          </a:p>
        </p:txBody>
      </p:sp>
      <p:sp>
        <p:nvSpPr>
          <p:cNvPr id="18" name="Text 16"/>
          <p:cNvSpPr/>
          <p:nvPr/>
        </p:nvSpPr>
        <p:spPr>
          <a:xfrm>
            <a:off x="6181074" y="3794125"/>
            <a:ext cx="5349146" cy="280095"/>
          </a:xfrm>
          <a:prstGeom prst="rect">
            <a:avLst/>
          </a:prstGeom>
          <a:noFill/>
          <a:ln/>
        </p:spPr>
        <p:txBody>
          <a:bodyPr wrap="none" lIns="0" tIns="0" rIns="0" bIns="0" rtlCol="0" anchor="t"/>
          <a:lstStyle/>
          <a:p>
            <a:pPr marL="0" indent="0" algn="l">
              <a:lnSpc>
                <a:spcPct val="130000"/>
              </a:lnSpc>
              <a:buNone/>
            </a:pPr>
            <a:r>
              <a:rPr lang="en-US" sz="1400" dirty="0">
                <a:solidFill>
                  <a:srgbClr val="464646"/>
                </a:solidFill>
                <a:latin typeface="Inter Medium" pitchFamily="34" charset="0"/>
                <a:ea typeface="Inter Medium" pitchFamily="34" charset="-122"/>
                <a:cs typeface="Inter Medium" pitchFamily="34" charset="-120"/>
              </a:rPr>
              <a:t>Convert recognized gestures into readable text output</a:t>
            </a:r>
            <a:endParaRPr lang="en-US" sz="1400" dirty="0"/>
          </a:p>
        </p:txBody>
      </p:sp>
      <p:sp>
        <p:nvSpPr>
          <p:cNvPr id="19" name="Text 17"/>
          <p:cNvSpPr/>
          <p:nvPr/>
        </p:nvSpPr>
        <p:spPr>
          <a:xfrm>
            <a:off x="661475" y="4659511"/>
            <a:ext cx="359064" cy="224433"/>
          </a:xfrm>
          <a:prstGeom prst="rect">
            <a:avLst/>
          </a:prstGeom>
          <a:noFill/>
          <a:ln/>
        </p:spPr>
        <p:txBody>
          <a:bodyPr wrap="none" lIns="0" tIns="0" rIns="0" bIns="0" rtlCol="0" anchor="ctr"/>
          <a:lstStyle/>
          <a:p>
            <a:pPr marL="0" indent="0" algn="l">
              <a:lnSpc>
                <a:spcPct val="100000"/>
              </a:lnSpc>
              <a:buNone/>
            </a:pPr>
            <a:r>
              <a:rPr lang="en-US" sz="1400" dirty="0">
                <a:solidFill>
                  <a:srgbClr val="464646"/>
                </a:solidFill>
                <a:latin typeface="DM Sans Light" pitchFamily="34" charset="0"/>
                <a:ea typeface="DM Sans Light" pitchFamily="34" charset="-122"/>
                <a:cs typeface="DM Sans Light" pitchFamily="34" charset="-120"/>
              </a:rPr>
              <a:t>05</a:t>
            </a:r>
            <a:endParaRPr lang="en-US" sz="1400" dirty="0"/>
          </a:p>
        </p:txBody>
      </p:sp>
      <p:sp>
        <p:nvSpPr>
          <p:cNvPr id="20" name="Shape 18"/>
          <p:cNvSpPr/>
          <p:nvPr/>
        </p:nvSpPr>
        <p:spPr>
          <a:xfrm>
            <a:off x="661475" y="4939209"/>
            <a:ext cx="5349047" cy="25400"/>
          </a:xfrm>
          <a:prstGeom prst="rect">
            <a:avLst/>
          </a:prstGeom>
          <a:solidFill>
            <a:srgbClr val="1C9770"/>
          </a:solidFill>
          <a:ln/>
        </p:spPr>
      </p:sp>
      <p:sp>
        <p:nvSpPr>
          <p:cNvPr id="21" name="Text 19"/>
          <p:cNvSpPr/>
          <p:nvPr/>
        </p:nvSpPr>
        <p:spPr>
          <a:xfrm>
            <a:off x="661475" y="5079702"/>
            <a:ext cx="5349047" cy="280491"/>
          </a:xfrm>
          <a:prstGeom prst="rect">
            <a:avLst/>
          </a:prstGeom>
          <a:noFill/>
          <a:ln/>
        </p:spPr>
        <p:txBody>
          <a:bodyPr wrap="none" lIns="0" tIns="0" rIns="0" bIns="0" rtlCol="0" anchor="t"/>
          <a:lstStyle/>
          <a:p>
            <a:pPr marL="0" indent="0" algn="l">
              <a:lnSpc>
                <a:spcPct val="104000"/>
              </a:lnSpc>
              <a:buNone/>
            </a:pPr>
            <a:r>
              <a:rPr lang="en-US" sz="1750" dirty="0">
                <a:solidFill>
                  <a:srgbClr val="464646"/>
                </a:solidFill>
                <a:latin typeface="DM Sans SemiBold" pitchFamily="34" charset="0"/>
                <a:ea typeface="DM Sans SemiBold" pitchFamily="34" charset="-122"/>
                <a:cs typeface="DM Sans SemiBold" pitchFamily="34" charset="-120"/>
              </a:rPr>
              <a:t>Speech Feedback</a:t>
            </a:r>
            <a:endParaRPr lang="en-US" sz="1750" dirty="0"/>
          </a:p>
        </p:txBody>
      </p:sp>
      <p:sp>
        <p:nvSpPr>
          <p:cNvPr id="22" name="Text 20"/>
          <p:cNvSpPr/>
          <p:nvPr/>
        </p:nvSpPr>
        <p:spPr>
          <a:xfrm>
            <a:off x="661475" y="5462488"/>
            <a:ext cx="5349047" cy="560189"/>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464646"/>
                </a:solidFill>
                <a:latin typeface="Inter Medium" pitchFamily="34" charset="0"/>
                <a:ea typeface="Inter Medium" pitchFamily="34" charset="-122"/>
                <a:cs typeface="Inter Medium" pitchFamily="34" charset="-120"/>
              </a:rPr>
              <a:t>Optionally convert resulting text into speech for audio feedback</a:t>
            </a:r>
            <a:endParaRPr lang="en-US" sz="1400" dirty="0"/>
          </a:p>
        </p:txBody>
      </p:sp>
      <p:sp>
        <p:nvSpPr>
          <p:cNvPr id="23" name="Text 21"/>
          <p:cNvSpPr/>
          <p:nvPr/>
        </p:nvSpPr>
        <p:spPr>
          <a:xfrm>
            <a:off x="6181074" y="4659511"/>
            <a:ext cx="359064" cy="224433"/>
          </a:xfrm>
          <a:prstGeom prst="rect">
            <a:avLst/>
          </a:prstGeom>
          <a:noFill/>
          <a:ln/>
        </p:spPr>
        <p:txBody>
          <a:bodyPr wrap="none" lIns="0" tIns="0" rIns="0" bIns="0" rtlCol="0" anchor="ctr"/>
          <a:lstStyle/>
          <a:p>
            <a:pPr marL="0" indent="0" algn="l">
              <a:lnSpc>
                <a:spcPct val="100000"/>
              </a:lnSpc>
              <a:buNone/>
            </a:pPr>
            <a:r>
              <a:rPr lang="en-US" sz="1400" dirty="0">
                <a:solidFill>
                  <a:srgbClr val="464646"/>
                </a:solidFill>
                <a:latin typeface="DM Sans Light" pitchFamily="34" charset="0"/>
                <a:ea typeface="DM Sans Light" pitchFamily="34" charset="-122"/>
                <a:cs typeface="DM Sans Light" pitchFamily="34" charset="-120"/>
              </a:rPr>
              <a:t>06</a:t>
            </a:r>
            <a:endParaRPr lang="en-US" sz="1400" dirty="0"/>
          </a:p>
        </p:txBody>
      </p:sp>
      <p:sp>
        <p:nvSpPr>
          <p:cNvPr id="24" name="Shape 22"/>
          <p:cNvSpPr/>
          <p:nvPr/>
        </p:nvSpPr>
        <p:spPr>
          <a:xfrm>
            <a:off x="6181074" y="4939209"/>
            <a:ext cx="5349146" cy="25400"/>
          </a:xfrm>
          <a:prstGeom prst="rect">
            <a:avLst/>
          </a:prstGeom>
          <a:solidFill>
            <a:srgbClr val="1C9770"/>
          </a:solidFill>
          <a:ln/>
        </p:spPr>
      </p:sp>
      <p:sp>
        <p:nvSpPr>
          <p:cNvPr id="25" name="Text 23"/>
          <p:cNvSpPr/>
          <p:nvPr/>
        </p:nvSpPr>
        <p:spPr>
          <a:xfrm>
            <a:off x="6181074" y="5079702"/>
            <a:ext cx="5349146" cy="280491"/>
          </a:xfrm>
          <a:prstGeom prst="rect">
            <a:avLst/>
          </a:prstGeom>
          <a:noFill/>
          <a:ln/>
        </p:spPr>
        <p:txBody>
          <a:bodyPr wrap="none" lIns="0" tIns="0" rIns="0" bIns="0" rtlCol="0" anchor="t"/>
          <a:lstStyle/>
          <a:p>
            <a:pPr marL="0" indent="0" algn="l">
              <a:lnSpc>
                <a:spcPct val="104000"/>
              </a:lnSpc>
              <a:buNone/>
            </a:pPr>
            <a:r>
              <a:rPr lang="en-US" sz="1750" dirty="0">
                <a:solidFill>
                  <a:srgbClr val="464646"/>
                </a:solidFill>
                <a:latin typeface="DM Sans SemiBold" pitchFamily="34" charset="0"/>
                <a:ea typeface="DM Sans SemiBold" pitchFamily="34" charset="-122"/>
                <a:cs typeface="DM Sans SemiBold" pitchFamily="34" charset="-120"/>
              </a:rPr>
              <a:t>User-Friendly Tool</a:t>
            </a:r>
            <a:endParaRPr lang="en-US" sz="1750" dirty="0"/>
          </a:p>
        </p:txBody>
      </p:sp>
      <p:sp>
        <p:nvSpPr>
          <p:cNvPr id="26" name="Text 24"/>
          <p:cNvSpPr/>
          <p:nvPr/>
        </p:nvSpPr>
        <p:spPr>
          <a:xfrm>
            <a:off x="6181074" y="5462488"/>
            <a:ext cx="5349146" cy="560189"/>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464646"/>
                </a:solidFill>
                <a:latin typeface="Inter Medium" pitchFamily="34" charset="0"/>
                <a:ea typeface="Inter Medium" pitchFamily="34" charset="-122"/>
                <a:cs typeface="Inter Medium" pitchFamily="34" charset="-120"/>
              </a:rPr>
              <a:t>Provide a simple, accessible communication interface for all users</a:t>
            </a:r>
            <a:endParaRPr lang="en-US" sz="1400" dirty="0"/>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135EFE72-15F6-037D-6EE0-3B362108258A}"/>
                  </a:ext>
                </a:extLst>
              </p14:cNvPr>
              <p14:cNvContentPartPr/>
              <p14:nvPr/>
            </p14:nvContentPartPr>
            <p14:xfrm>
              <a:off x="11137203" y="6581919"/>
              <a:ext cx="923040" cy="82800"/>
            </p14:xfrm>
          </p:contentPart>
        </mc:Choice>
        <mc:Fallback xmlns="">
          <p:pic>
            <p:nvPicPr>
              <p:cNvPr id="28" name="Ink 27">
                <a:extLst>
                  <a:ext uri="{FF2B5EF4-FFF2-40B4-BE49-F238E27FC236}">
                    <a16:creationId xmlns:a16="http://schemas.microsoft.com/office/drawing/2014/main" id="{135EFE72-15F6-037D-6EE0-3B362108258A}"/>
                  </a:ext>
                </a:extLst>
              </p:cNvPr>
              <p:cNvPicPr/>
              <p:nvPr/>
            </p:nvPicPr>
            <p:blipFill>
              <a:blip r:embed="rId4"/>
              <a:stretch>
                <a:fillRect/>
              </a:stretch>
            </p:blipFill>
            <p:spPr>
              <a:xfrm>
                <a:off x="11074563" y="6518919"/>
                <a:ext cx="1048680" cy="2084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77EE3A3C-E03F-EE92-9B7E-A7AB08743C91}"/>
                  </a:ext>
                </a:extLst>
              </p14:cNvPr>
              <p14:cNvContentPartPr/>
              <p14:nvPr/>
            </p14:nvContentPartPr>
            <p14:xfrm>
              <a:off x="11087523" y="6696759"/>
              <a:ext cx="981360" cy="75600"/>
            </p14:xfrm>
          </p:contentPart>
        </mc:Choice>
        <mc:Fallback xmlns="">
          <p:pic>
            <p:nvPicPr>
              <p:cNvPr id="29" name="Ink 28">
                <a:extLst>
                  <a:ext uri="{FF2B5EF4-FFF2-40B4-BE49-F238E27FC236}">
                    <a16:creationId xmlns:a16="http://schemas.microsoft.com/office/drawing/2014/main" id="{77EE3A3C-E03F-EE92-9B7E-A7AB08743C91}"/>
                  </a:ext>
                </a:extLst>
              </p:cNvPr>
              <p:cNvPicPr/>
              <p:nvPr/>
            </p:nvPicPr>
            <p:blipFill>
              <a:blip r:embed="rId6"/>
              <a:stretch>
                <a:fillRect/>
              </a:stretch>
            </p:blipFill>
            <p:spPr>
              <a:xfrm>
                <a:off x="11024523" y="6633759"/>
                <a:ext cx="1107000" cy="201240"/>
              </a:xfrm>
              <a:prstGeom prst="rect">
                <a:avLst/>
              </a:prstGeom>
            </p:spPr>
          </p:pic>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1296591"/>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030303"/>
                </a:solidFill>
                <a:latin typeface="DM Sans SemiBold" pitchFamily="34" charset="0"/>
                <a:ea typeface="DM Sans SemiBold" pitchFamily="34" charset="-122"/>
                <a:cs typeface="DM Sans SemiBold" pitchFamily="34" charset="-120"/>
              </a:rPr>
              <a:t>Software Used</a:t>
            </a:r>
            <a:endParaRPr lang="en-US" sz="3700" dirty="0"/>
          </a:p>
        </p:txBody>
      </p:sp>
      <p:sp>
        <p:nvSpPr>
          <p:cNvPr id="3" name="Shape 1"/>
          <p:cNvSpPr/>
          <p:nvPr/>
        </p:nvSpPr>
        <p:spPr>
          <a:xfrm>
            <a:off x="661475" y="2265263"/>
            <a:ext cx="10868745" cy="3296047"/>
          </a:xfrm>
          <a:prstGeom prst="roundRect">
            <a:avLst>
              <a:gd name="adj" fmla="val 860"/>
            </a:avLst>
          </a:prstGeom>
          <a:noFill/>
          <a:ln w="6350">
            <a:solidFill>
              <a:srgbClr val="000000">
                <a:alpha val="8000"/>
              </a:srgbClr>
            </a:solidFill>
            <a:prstDash val="solid"/>
          </a:ln>
        </p:spPr>
      </p:sp>
      <p:sp>
        <p:nvSpPr>
          <p:cNvPr id="4" name="Shape 2"/>
          <p:cNvSpPr/>
          <p:nvPr/>
        </p:nvSpPr>
        <p:spPr>
          <a:xfrm>
            <a:off x="661475" y="2816721"/>
            <a:ext cx="10868745" cy="11814"/>
          </a:xfrm>
          <a:prstGeom prst="rect">
            <a:avLst/>
          </a:prstGeom>
          <a:solidFill>
            <a:srgbClr val="000000">
              <a:alpha val="8000"/>
            </a:srgbClr>
          </a:solidFill>
          <a:ln/>
        </p:spPr>
      </p:sp>
      <p:sp>
        <p:nvSpPr>
          <p:cNvPr id="5" name="Shape 3"/>
          <p:cNvSpPr/>
          <p:nvPr/>
        </p:nvSpPr>
        <p:spPr>
          <a:xfrm>
            <a:off x="661475" y="3365004"/>
            <a:ext cx="10868745" cy="11814"/>
          </a:xfrm>
          <a:prstGeom prst="rect">
            <a:avLst/>
          </a:prstGeom>
          <a:solidFill>
            <a:srgbClr val="000000">
              <a:alpha val="8000"/>
            </a:srgbClr>
          </a:solidFill>
          <a:ln/>
        </p:spPr>
      </p:sp>
      <p:sp>
        <p:nvSpPr>
          <p:cNvPr id="6" name="Shape 4"/>
          <p:cNvSpPr/>
          <p:nvPr/>
        </p:nvSpPr>
        <p:spPr>
          <a:xfrm>
            <a:off x="661475" y="3913287"/>
            <a:ext cx="10868745" cy="11814"/>
          </a:xfrm>
          <a:prstGeom prst="rect">
            <a:avLst/>
          </a:prstGeom>
          <a:solidFill>
            <a:srgbClr val="000000">
              <a:alpha val="8000"/>
            </a:srgbClr>
          </a:solidFill>
          <a:ln/>
        </p:spPr>
      </p:sp>
      <p:sp>
        <p:nvSpPr>
          <p:cNvPr id="7" name="Shape 5"/>
          <p:cNvSpPr/>
          <p:nvPr/>
        </p:nvSpPr>
        <p:spPr>
          <a:xfrm>
            <a:off x="661475" y="4461570"/>
            <a:ext cx="10868745" cy="11814"/>
          </a:xfrm>
          <a:prstGeom prst="rect">
            <a:avLst/>
          </a:prstGeom>
          <a:solidFill>
            <a:srgbClr val="000000">
              <a:alpha val="8000"/>
            </a:srgbClr>
          </a:solidFill>
          <a:ln/>
        </p:spPr>
      </p:sp>
      <p:sp>
        <p:nvSpPr>
          <p:cNvPr id="8" name="Shape 6"/>
          <p:cNvSpPr/>
          <p:nvPr/>
        </p:nvSpPr>
        <p:spPr>
          <a:xfrm>
            <a:off x="661475" y="5009852"/>
            <a:ext cx="10868745" cy="11814"/>
          </a:xfrm>
          <a:prstGeom prst="rect">
            <a:avLst/>
          </a:prstGeom>
          <a:solidFill>
            <a:srgbClr val="000000">
              <a:alpha val="8000"/>
            </a:srgbClr>
          </a:solidFill>
          <a:ln/>
        </p:spPr>
      </p:sp>
      <p:sp>
        <p:nvSpPr>
          <p:cNvPr id="9" name="Shape 7"/>
          <p:cNvSpPr/>
          <p:nvPr/>
        </p:nvSpPr>
        <p:spPr>
          <a:xfrm>
            <a:off x="4467510" y="2265263"/>
            <a:ext cx="11814" cy="3296047"/>
          </a:xfrm>
          <a:prstGeom prst="rect">
            <a:avLst/>
          </a:prstGeom>
          <a:solidFill>
            <a:srgbClr val="000000">
              <a:alpha val="8000"/>
            </a:srgbClr>
          </a:solidFill>
          <a:ln/>
        </p:spPr>
      </p:sp>
      <p:sp>
        <p:nvSpPr>
          <p:cNvPr id="10" name="Text 8"/>
          <p:cNvSpPr/>
          <p:nvPr/>
        </p:nvSpPr>
        <p:spPr>
          <a:xfrm>
            <a:off x="856931" y="2391370"/>
            <a:ext cx="4027982" cy="302419"/>
          </a:xfrm>
          <a:prstGeom prst="rect">
            <a:avLst/>
          </a:prstGeom>
          <a:noFill/>
          <a:ln/>
        </p:spPr>
        <p:txBody>
          <a:bodyPr wrap="none" lIns="0" tIns="0" rIns="0" bIns="0" rtlCol="0" anchor="t"/>
          <a:lstStyle/>
          <a:p>
            <a:pPr marL="0" indent="0" algn="l">
              <a:lnSpc>
                <a:spcPct val="133000"/>
              </a:lnSpc>
              <a:buNone/>
            </a:pPr>
            <a:r>
              <a:rPr lang="en-US" sz="1450" dirty="0">
                <a:solidFill>
                  <a:schemeClr val="tx2"/>
                </a:solidFill>
                <a:latin typeface="Inter Medium" pitchFamily="34" charset="0"/>
                <a:ea typeface="Inter Medium" pitchFamily="34" charset="-122"/>
              </a:rPr>
              <a:t>Software</a:t>
            </a:r>
          </a:p>
          <a:p>
            <a:pPr marL="0" indent="0" algn="l">
              <a:lnSpc>
                <a:spcPct val="133000"/>
              </a:lnSpc>
              <a:buNone/>
            </a:pPr>
            <a:endParaRPr lang="en-US" sz="1450" dirty="0"/>
          </a:p>
        </p:txBody>
      </p:sp>
      <p:sp>
        <p:nvSpPr>
          <p:cNvPr id="11" name="Text 9"/>
          <p:cNvSpPr/>
          <p:nvPr/>
        </p:nvSpPr>
        <p:spPr>
          <a:xfrm>
            <a:off x="4659692" y="2391370"/>
            <a:ext cx="7284756" cy="302419"/>
          </a:xfrm>
          <a:prstGeom prst="rect">
            <a:avLst/>
          </a:prstGeom>
          <a:noFill/>
          <a:ln/>
        </p:spPr>
        <p:txBody>
          <a:bodyPr wrap="none" lIns="0" tIns="0" rIns="0" bIns="0" rtlCol="0" anchor="t"/>
          <a:lstStyle/>
          <a:p>
            <a:pPr marL="0" indent="0" algn="l">
              <a:lnSpc>
                <a:spcPct val="133000"/>
              </a:lnSpc>
              <a:buNone/>
            </a:pPr>
            <a:r>
              <a:rPr lang="en-US" sz="1450" dirty="0">
                <a:solidFill>
                  <a:srgbClr val="464646"/>
                </a:solidFill>
                <a:latin typeface="Inter Medium" pitchFamily="34" charset="0"/>
                <a:ea typeface="Inter Medium" pitchFamily="34" charset="-122"/>
                <a:cs typeface="Inter Medium" pitchFamily="34" charset="-120"/>
              </a:rPr>
              <a:t>Purpose</a:t>
            </a:r>
            <a:endParaRPr lang="en-US" sz="1450" dirty="0"/>
          </a:p>
        </p:txBody>
      </p:sp>
      <p:sp>
        <p:nvSpPr>
          <p:cNvPr id="12" name="Text 10"/>
          <p:cNvSpPr/>
          <p:nvPr/>
        </p:nvSpPr>
        <p:spPr>
          <a:xfrm>
            <a:off x="856931" y="2939653"/>
            <a:ext cx="4027982" cy="302419"/>
          </a:xfrm>
          <a:prstGeom prst="rect">
            <a:avLst/>
          </a:prstGeom>
          <a:noFill/>
          <a:ln/>
        </p:spPr>
        <p:txBody>
          <a:bodyPr wrap="none" lIns="0" tIns="0" rIns="0" bIns="0" rtlCol="0" anchor="t"/>
          <a:lstStyle/>
          <a:p>
            <a:pPr marL="0" indent="0" algn="l">
              <a:lnSpc>
                <a:spcPct val="133000"/>
              </a:lnSpc>
              <a:buNone/>
            </a:pPr>
            <a:r>
              <a:rPr lang="en-US" sz="1450" dirty="0">
                <a:solidFill>
                  <a:srgbClr val="464646"/>
                </a:solidFill>
                <a:latin typeface="Inter Medium" pitchFamily="34" charset="0"/>
                <a:ea typeface="Inter Medium" pitchFamily="34" charset="-122"/>
                <a:cs typeface="Inter Medium" pitchFamily="34" charset="-120"/>
              </a:rPr>
              <a:t>Python</a:t>
            </a:r>
            <a:endParaRPr lang="en-US" sz="1450" dirty="0"/>
          </a:p>
        </p:txBody>
      </p:sp>
      <p:sp>
        <p:nvSpPr>
          <p:cNvPr id="13" name="Text 11"/>
          <p:cNvSpPr/>
          <p:nvPr/>
        </p:nvSpPr>
        <p:spPr>
          <a:xfrm>
            <a:off x="4659692" y="2939653"/>
            <a:ext cx="7284756" cy="302419"/>
          </a:xfrm>
          <a:prstGeom prst="rect">
            <a:avLst/>
          </a:prstGeom>
          <a:noFill/>
          <a:ln/>
        </p:spPr>
        <p:txBody>
          <a:bodyPr wrap="none" lIns="0" tIns="0" rIns="0" bIns="0" rtlCol="0" anchor="t"/>
          <a:lstStyle/>
          <a:p>
            <a:pPr marL="0" indent="0" algn="l">
              <a:lnSpc>
                <a:spcPct val="133000"/>
              </a:lnSpc>
              <a:buNone/>
            </a:pPr>
            <a:r>
              <a:rPr lang="en-US" sz="1450" dirty="0">
                <a:solidFill>
                  <a:srgbClr val="464646"/>
                </a:solidFill>
                <a:latin typeface="Inter Medium" pitchFamily="34" charset="0"/>
                <a:ea typeface="Inter Medium" pitchFamily="34" charset="-122"/>
                <a:cs typeface="Inter Medium" pitchFamily="34" charset="-120"/>
              </a:rPr>
              <a:t>Main programming language</a:t>
            </a:r>
            <a:endParaRPr lang="en-US" sz="1450" dirty="0"/>
          </a:p>
        </p:txBody>
      </p:sp>
      <p:sp>
        <p:nvSpPr>
          <p:cNvPr id="14" name="Text 12"/>
          <p:cNvSpPr/>
          <p:nvPr/>
        </p:nvSpPr>
        <p:spPr>
          <a:xfrm>
            <a:off x="856931" y="3487936"/>
            <a:ext cx="4027982" cy="302419"/>
          </a:xfrm>
          <a:prstGeom prst="rect">
            <a:avLst/>
          </a:prstGeom>
          <a:noFill/>
          <a:ln/>
        </p:spPr>
        <p:txBody>
          <a:bodyPr wrap="none" lIns="0" tIns="0" rIns="0" bIns="0" rtlCol="0" anchor="t"/>
          <a:lstStyle/>
          <a:p>
            <a:pPr marL="0" indent="0" algn="l">
              <a:lnSpc>
                <a:spcPct val="133000"/>
              </a:lnSpc>
              <a:buNone/>
            </a:pPr>
            <a:r>
              <a:rPr lang="en-US" sz="1450" dirty="0">
                <a:solidFill>
                  <a:srgbClr val="464646"/>
                </a:solidFill>
                <a:latin typeface="Inter Medium" pitchFamily="34" charset="0"/>
                <a:ea typeface="Inter Medium" pitchFamily="34" charset="-122"/>
                <a:cs typeface="Inter Medium" pitchFamily="34" charset="-120"/>
              </a:rPr>
              <a:t>OpenCV</a:t>
            </a:r>
            <a:endParaRPr lang="en-US" sz="1450" dirty="0"/>
          </a:p>
        </p:txBody>
      </p:sp>
      <p:sp>
        <p:nvSpPr>
          <p:cNvPr id="15" name="Text 13"/>
          <p:cNvSpPr/>
          <p:nvPr/>
        </p:nvSpPr>
        <p:spPr>
          <a:xfrm>
            <a:off x="4659692" y="3487936"/>
            <a:ext cx="7284756" cy="302419"/>
          </a:xfrm>
          <a:prstGeom prst="rect">
            <a:avLst/>
          </a:prstGeom>
          <a:noFill/>
          <a:ln/>
        </p:spPr>
        <p:txBody>
          <a:bodyPr wrap="none" lIns="0" tIns="0" rIns="0" bIns="0" rtlCol="0" anchor="t"/>
          <a:lstStyle/>
          <a:p>
            <a:pPr marL="0" indent="0" algn="l">
              <a:lnSpc>
                <a:spcPct val="133000"/>
              </a:lnSpc>
              <a:buNone/>
            </a:pPr>
            <a:r>
              <a:rPr lang="en-US" sz="1450" dirty="0">
                <a:solidFill>
                  <a:srgbClr val="464646"/>
                </a:solidFill>
                <a:latin typeface="Inter Medium" pitchFamily="34" charset="0"/>
                <a:ea typeface="Inter Medium" pitchFamily="34" charset="-122"/>
                <a:cs typeface="Inter Medium" pitchFamily="34" charset="-120"/>
              </a:rPr>
              <a:t>Image processing and computer vision</a:t>
            </a:r>
            <a:endParaRPr lang="en-US" sz="1450" dirty="0"/>
          </a:p>
        </p:txBody>
      </p:sp>
      <p:sp>
        <p:nvSpPr>
          <p:cNvPr id="16" name="Text 14"/>
          <p:cNvSpPr/>
          <p:nvPr/>
        </p:nvSpPr>
        <p:spPr>
          <a:xfrm>
            <a:off x="856931" y="4036219"/>
            <a:ext cx="4027982" cy="302419"/>
          </a:xfrm>
          <a:prstGeom prst="rect">
            <a:avLst/>
          </a:prstGeom>
          <a:noFill/>
          <a:ln/>
        </p:spPr>
        <p:txBody>
          <a:bodyPr wrap="none" lIns="0" tIns="0" rIns="0" bIns="0" rtlCol="0" anchor="t"/>
          <a:lstStyle/>
          <a:p>
            <a:pPr marL="0" indent="0" algn="l">
              <a:lnSpc>
                <a:spcPct val="133000"/>
              </a:lnSpc>
              <a:buNone/>
            </a:pPr>
            <a:r>
              <a:rPr lang="en-US" sz="1450" dirty="0">
                <a:solidFill>
                  <a:srgbClr val="464646"/>
                </a:solidFill>
                <a:latin typeface="Inter Medium" pitchFamily="34" charset="0"/>
                <a:ea typeface="Inter Medium" pitchFamily="34" charset="-122"/>
                <a:cs typeface="Inter Medium" pitchFamily="34" charset="-120"/>
              </a:rPr>
              <a:t>MediaPipe</a:t>
            </a:r>
            <a:endParaRPr lang="en-US" sz="1450" dirty="0"/>
          </a:p>
        </p:txBody>
      </p:sp>
      <p:sp>
        <p:nvSpPr>
          <p:cNvPr id="17" name="Text 15"/>
          <p:cNvSpPr/>
          <p:nvPr/>
        </p:nvSpPr>
        <p:spPr>
          <a:xfrm>
            <a:off x="4659692" y="4036219"/>
            <a:ext cx="7284756" cy="302419"/>
          </a:xfrm>
          <a:prstGeom prst="rect">
            <a:avLst/>
          </a:prstGeom>
          <a:noFill/>
          <a:ln/>
        </p:spPr>
        <p:txBody>
          <a:bodyPr wrap="none" lIns="0" tIns="0" rIns="0" bIns="0" rtlCol="0" anchor="t"/>
          <a:lstStyle/>
          <a:p>
            <a:pPr marL="0" indent="0" algn="l">
              <a:lnSpc>
                <a:spcPct val="133000"/>
              </a:lnSpc>
              <a:buNone/>
            </a:pPr>
            <a:r>
              <a:rPr lang="en-US" sz="1450" dirty="0">
                <a:solidFill>
                  <a:srgbClr val="464646"/>
                </a:solidFill>
                <a:latin typeface="Inter Medium" pitchFamily="34" charset="0"/>
                <a:ea typeface="Inter Medium" pitchFamily="34" charset="-122"/>
                <a:cs typeface="Inter Medium" pitchFamily="34" charset="-120"/>
              </a:rPr>
              <a:t>Hand detection and landmark extraction</a:t>
            </a:r>
            <a:endParaRPr lang="en-US" sz="1450" dirty="0"/>
          </a:p>
        </p:txBody>
      </p:sp>
      <p:sp>
        <p:nvSpPr>
          <p:cNvPr id="18" name="Text 16"/>
          <p:cNvSpPr/>
          <p:nvPr/>
        </p:nvSpPr>
        <p:spPr>
          <a:xfrm>
            <a:off x="856931" y="4584502"/>
            <a:ext cx="4027982" cy="302419"/>
          </a:xfrm>
          <a:prstGeom prst="rect">
            <a:avLst/>
          </a:prstGeom>
          <a:noFill/>
          <a:ln/>
        </p:spPr>
        <p:txBody>
          <a:bodyPr wrap="none" lIns="0" tIns="0" rIns="0" bIns="0" rtlCol="0" anchor="t"/>
          <a:lstStyle/>
          <a:p>
            <a:pPr marL="0" indent="0" algn="l">
              <a:lnSpc>
                <a:spcPct val="133000"/>
              </a:lnSpc>
              <a:buNone/>
            </a:pPr>
            <a:r>
              <a:rPr lang="en-US" sz="1450" dirty="0">
                <a:solidFill>
                  <a:srgbClr val="464646"/>
                </a:solidFill>
                <a:latin typeface="Inter Medium" pitchFamily="34" charset="0"/>
                <a:ea typeface="Inter Medium" pitchFamily="34" charset="-122"/>
              </a:rPr>
              <a:t>MongoDB</a:t>
            </a:r>
            <a:endParaRPr lang="en-US" sz="1450" dirty="0"/>
          </a:p>
        </p:txBody>
      </p:sp>
      <p:sp>
        <p:nvSpPr>
          <p:cNvPr id="19" name="Text 17"/>
          <p:cNvSpPr/>
          <p:nvPr/>
        </p:nvSpPr>
        <p:spPr>
          <a:xfrm>
            <a:off x="4659692" y="4584502"/>
            <a:ext cx="7284756" cy="302419"/>
          </a:xfrm>
          <a:prstGeom prst="rect">
            <a:avLst/>
          </a:prstGeom>
          <a:noFill/>
          <a:ln/>
        </p:spPr>
        <p:txBody>
          <a:bodyPr wrap="none" lIns="0" tIns="0" rIns="0" bIns="0" rtlCol="0" anchor="t"/>
          <a:lstStyle/>
          <a:p>
            <a:r>
              <a:rPr lang="en-IN" sz="1450" dirty="0">
                <a:solidFill>
                  <a:schemeClr val="tx2"/>
                </a:solidFill>
                <a:latin typeface="Inter Medium" panose="020B0604020202020204" charset="0"/>
                <a:ea typeface="Inter Medium" panose="020B0604020202020204" charset="0"/>
              </a:rPr>
              <a:t>Stores user details, sign information, and translation history</a:t>
            </a:r>
            <a:endParaRPr lang="en-US" sz="1450" dirty="0">
              <a:solidFill>
                <a:schemeClr val="tx2"/>
              </a:solidFill>
              <a:latin typeface="Inter Medium" panose="020B0604020202020204" charset="0"/>
              <a:ea typeface="Inter Medium" panose="020B0604020202020204" charset="0"/>
            </a:endParaRPr>
          </a:p>
        </p:txBody>
      </p:sp>
      <p:sp>
        <p:nvSpPr>
          <p:cNvPr id="20" name="Text 18"/>
          <p:cNvSpPr/>
          <p:nvPr/>
        </p:nvSpPr>
        <p:spPr>
          <a:xfrm>
            <a:off x="856931" y="5132784"/>
            <a:ext cx="4027982" cy="302419"/>
          </a:xfrm>
          <a:prstGeom prst="rect">
            <a:avLst/>
          </a:prstGeom>
          <a:noFill/>
          <a:ln/>
        </p:spPr>
        <p:txBody>
          <a:bodyPr wrap="none" lIns="0" tIns="0" rIns="0" bIns="0" rtlCol="0" anchor="t"/>
          <a:lstStyle/>
          <a:p>
            <a:r>
              <a:rPr lang="en-IN" sz="1450" dirty="0">
                <a:solidFill>
                  <a:schemeClr val="tx2"/>
                </a:solidFill>
                <a:latin typeface="Inter Medium" panose="020B0604020202020204" charset="0"/>
                <a:ea typeface="Inter Medium" panose="020B0604020202020204" charset="0"/>
              </a:rPr>
              <a:t>HTML, CSS, JavaScript</a:t>
            </a:r>
            <a:endParaRPr lang="en-US" sz="1450" dirty="0">
              <a:solidFill>
                <a:schemeClr val="tx2"/>
              </a:solidFill>
              <a:latin typeface="Inter Medium" panose="020B0604020202020204" charset="0"/>
              <a:ea typeface="Inter Medium" panose="020B0604020202020204" charset="0"/>
            </a:endParaRPr>
          </a:p>
        </p:txBody>
      </p:sp>
      <p:sp>
        <p:nvSpPr>
          <p:cNvPr id="21" name="Text 19"/>
          <p:cNvSpPr/>
          <p:nvPr/>
        </p:nvSpPr>
        <p:spPr>
          <a:xfrm>
            <a:off x="4659692" y="5132784"/>
            <a:ext cx="7284756" cy="302419"/>
          </a:xfrm>
          <a:prstGeom prst="rect">
            <a:avLst/>
          </a:prstGeom>
          <a:noFill/>
          <a:ln/>
        </p:spPr>
        <p:txBody>
          <a:bodyPr wrap="none" lIns="0" tIns="0" rIns="0" bIns="0" rtlCol="0" anchor="t"/>
          <a:lstStyle/>
          <a:p>
            <a:r>
              <a:rPr lang="en-IN" sz="1450" dirty="0">
                <a:solidFill>
                  <a:schemeClr val="tx2"/>
                </a:solidFill>
                <a:latin typeface="Inter Medium" panose="020B0604020202020204" charset="0"/>
                <a:ea typeface="Inter Medium" panose="020B0604020202020204" charset="0"/>
              </a:rPr>
              <a:t>User interface and interaction</a:t>
            </a:r>
            <a:endParaRPr lang="en-US" sz="1450" dirty="0">
              <a:solidFill>
                <a:schemeClr val="tx2"/>
              </a:solidFill>
              <a:latin typeface="Inter Medium" panose="020B0604020202020204" charset="0"/>
              <a:ea typeface="Inter Medium" panose="020B0604020202020204" charset="0"/>
            </a:endParaRPr>
          </a:p>
        </p:txBody>
      </p:sp>
      <mc:AlternateContent xmlns:mc="http://schemas.openxmlformats.org/markup-compatibility/2006" xmlns:p14="http://schemas.microsoft.com/office/powerpoint/2010/main">
        <mc:Choice Requires="p14">
          <p:contentPart p14:bwMode="auto" r:id="rId3">
            <p14:nvContentPartPr>
              <p14:cNvPr id="23" name="Ink 22">
                <a:extLst>
                  <a:ext uri="{FF2B5EF4-FFF2-40B4-BE49-F238E27FC236}">
                    <a16:creationId xmlns:a16="http://schemas.microsoft.com/office/drawing/2014/main" id="{FA6EBF69-4045-8F4F-AC0F-5CE4954CC820}"/>
                  </a:ext>
                </a:extLst>
              </p14:cNvPr>
              <p14:cNvContentPartPr/>
              <p14:nvPr/>
            </p14:nvContentPartPr>
            <p14:xfrm>
              <a:off x="11128923" y="6680559"/>
              <a:ext cx="923040" cy="360"/>
            </p14:xfrm>
          </p:contentPart>
        </mc:Choice>
        <mc:Fallback xmlns="">
          <p:pic>
            <p:nvPicPr>
              <p:cNvPr id="23" name="Ink 22">
                <a:extLst>
                  <a:ext uri="{FF2B5EF4-FFF2-40B4-BE49-F238E27FC236}">
                    <a16:creationId xmlns:a16="http://schemas.microsoft.com/office/drawing/2014/main" id="{FA6EBF69-4045-8F4F-AC0F-5CE4954CC820}"/>
                  </a:ext>
                </a:extLst>
              </p:cNvPr>
              <p:cNvPicPr/>
              <p:nvPr/>
            </p:nvPicPr>
            <p:blipFill>
              <a:blip r:embed="rId4"/>
              <a:stretch>
                <a:fillRect/>
              </a:stretch>
            </p:blipFill>
            <p:spPr>
              <a:xfrm>
                <a:off x="11065923" y="6617919"/>
                <a:ext cx="104868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4" name="Ink 23">
                <a:extLst>
                  <a:ext uri="{FF2B5EF4-FFF2-40B4-BE49-F238E27FC236}">
                    <a16:creationId xmlns:a16="http://schemas.microsoft.com/office/drawing/2014/main" id="{72157F81-B9F9-DA0F-E911-3DE254EADA46}"/>
                  </a:ext>
                </a:extLst>
              </p14:cNvPr>
              <p14:cNvContentPartPr/>
              <p14:nvPr/>
            </p14:nvContentPartPr>
            <p14:xfrm>
              <a:off x="11103723" y="6697119"/>
              <a:ext cx="907200" cy="17640"/>
            </p14:xfrm>
          </p:contentPart>
        </mc:Choice>
        <mc:Fallback xmlns="">
          <p:pic>
            <p:nvPicPr>
              <p:cNvPr id="24" name="Ink 23">
                <a:extLst>
                  <a:ext uri="{FF2B5EF4-FFF2-40B4-BE49-F238E27FC236}">
                    <a16:creationId xmlns:a16="http://schemas.microsoft.com/office/drawing/2014/main" id="{72157F81-B9F9-DA0F-E911-3DE254EADA46}"/>
                  </a:ext>
                </a:extLst>
              </p:cNvPr>
              <p:cNvPicPr/>
              <p:nvPr/>
            </p:nvPicPr>
            <p:blipFill>
              <a:blip r:embed="rId6"/>
              <a:stretch>
                <a:fillRect/>
              </a:stretch>
            </p:blipFill>
            <p:spPr>
              <a:xfrm>
                <a:off x="11040723" y="6634119"/>
                <a:ext cx="1032840" cy="1432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5" name="Ink 24">
                <a:extLst>
                  <a:ext uri="{FF2B5EF4-FFF2-40B4-BE49-F238E27FC236}">
                    <a16:creationId xmlns:a16="http://schemas.microsoft.com/office/drawing/2014/main" id="{CB4EE476-43FF-5686-3935-48E9443AC14C}"/>
                  </a:ext>
                </a:extLst>
              </p14:cNvPr>
              <p14:cNvContentPartPr/>
              <p14:nvPr/>
            </p14:nvContentPartPr>
            <p14:xfrm>
              <a:off x="11063043" y="6622239"/>
              <a:ext cx="923400" cy="26280"/>
            </p14:xfrm>
          </p:contentPart>
        </mc:Choice>
        <mc:Fallback xmlns="">
          <p:pic>
            <p:nvPicPr>
              <p:cNvPr id="25" name="Ink 24">
                <a:extLst>
                  <a:ext uri="{FF2B5EF4-FFF2-40B4-BE49-F238E27FC236}">
                    <a16:creationId xmlns:a16="http://schemas.microsoft.com/office/drawing/2014/main" id="{CB4EE476-43FF-5686-3935-48E9443AC14C}"/>
                  </a:ext>
                </a:extLst>
              </p:cNvPr>
              <p:cNvPicPr/>
              <p:nvPr/>
            </p:nvPicPr>
            <p:blipFill>
              <a:blip r:embed="rId8"/>
              <a:stretch>
                <a:fillRect/>
              </a:stretch>
            </p:blipFill>
            <p:spPr>
              <a:xfrm>
                <a:off x="11000043" y="6559599"/>
                <a:ext cx="1049040" cy="151920"/>
              </a:xfrm>
              <a:prstGeom prst="rect">
                <a:avLst/>
              </a:prstGeom>
            </p:spPr>
          </p:pic>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1570732"/>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030303"/>
                </a:solidFill>
                <a:latin typeface="DM Sans SemiBold" pitchFamily="34" charset="0"/>
                <a:ea typeface="DM Sans SemiBold" pitchFamily="34" charset="-122"/>
                <a:cs typeface="DM Sans SemiBold" pitchFamily="34" charset="-120"/>
              </a:rPr>
              <a:t>Hardware Used</a:t>
            </a:r>
            <a:endParaRPr lang="en-US" sz="3700" dirty="0"/>
          </a:p>
        </p:txBody>
      </p:sp>
      <p:sp>
        <p:nvSpPr>
          <p:cNvPr id="3" name="Shape 1"/>
          <p:cNvSpPr/>
          <p:nvPr/>
        </p:nvSpPr>
        <p:spPr>
          <a:xfrm>
            <a:off x="661475" y="2539405"/>
            <a:ext cx="10868745" cy="2747764"/>
          </a:xfrm>
          <a:prstGeom prst="roundRect">
            <a:avLst>
              <a:gd name="adj" fmla="val 1032"/>
            </a:avLst>
          </a:prstGeom>
          <a:noFill/>
          <a:ln w="6350">
            <a:solidFill>
              <a:srgbClr val="000000">
                <a:alpha val="8000"/>
              </a:srgbClr>
            </a:solidFill>
            <a:prstDash val="solid"/>
          </a:ln>
        </p:spPr>
      </p:sp>
      <p:sp>
        <p:nvSpPr>
          <p:cNvPr id="4" name="Shape 2"/>
          <p:cNvSpPr/>
          <p:nvPr/>
        </p:nvSpPr>
        <p:spPr>
          <a:xfrm>
            <a:off x="661475" y="3090863"/>
            <a:ext cx="10868745" cy="11814"/>
          </a:xfrm>
          <a:prstGeom prst="rect">
            <a:avLst/>
          </a:prstGeom>
          <a:solidFill>
            <a:srgbClr val="000000">
              <a:alpha val="8000"/>
            </a:srgbClr>
          </a:solidFill>
          <a:ln/>
        </p:spPr>
      </p:sp>
      <p:sp>
        <p:nvSpPr>
          <p:cNvPr id="5" name="Shape 3"/>
          <p:cNvSpPr/>
          <p:nvPr/>
        </p:nvSpPr>
        <p:spPr>
          <a:xfrm>
            <a:off x="661475" y="3639145"/>
            <a:ext cx="10868745" cy="11814"/>
          </a:xfrm>
          <a:prstGeom prst="rect">
            <a:avLst/>
          </a:prstGeom>
          <a:solidFill>
            <a:srgbClr val="000000">
              <a:alpha val="8000"/>
            </a:srgbClr>
          </a:solidFill>
          <a:ln/>
        </p:spPr>
      </p:sp>
      <p:sp>
        <p:nvSpPr>
          <p:cNvPr id="6" name="Shape 4"/>
          <p:cNvSpPr/>
          <p:nvPr/>
        </p:nvSpPr>
        <p:spPr>
          <a:xfrm>
            <a:off x="661475" y="4187428"/>
            <a:ext cx="10868745" cy="11814"/>
          </a:xfrm>
          <a:prstGeom prst="rect">
            <a:avLst/>
          </a:prstGeom>
          <a:solidFill>
            <a:srgbClr val="000000">
              <a:alpha val="8000"/>
            </a:srgbClr>
          </a:solidFill>
          <a:ln/>
        </p:spPr>
      </p:sp>
      <p:sp>
        <p:nvSpPr>
          <p:cNvPr id="7" name="Shape 5"/>
          <p:cNvSpPr/>
          <p:nvPr/>
        </p:nvSpPr>
        <p:spPr>
          <a:xfrm>
            <a:off x="661475" y="4735711"/>
            <a:ext cx="10868745" cy="11814"/>
          </a:xfrm>
          <a:prstGeom prst="rect">
            <a:avLst/>
          </a:prstGeom>
          <a:solidFill>
            <a:srgbClr val="000000">
              <a:alpha val="8000"/>
            </a:srgbClr>
          </a:solidFill>
          <a:ln/>
        </p:spPr>
      </p:sp>
      <p:sp>
        <p:nvSpPr>
          <p:cNvPr id="8" name="Shape 6"/>
          <p:cNvSpPr/>
          <p:nvPr/>
        </p:nvSpPr>
        <p:spPr>
          <a:xfrm>
            <a:off x="4467510" y="2539405"/>
            <a:ext cx="11814" cy="2747764"/>
          </a:xfrm>
          <a:prstGeom prst="rect">
            <a:avLst/>
          </a:prstGeom>
          <a:solidFill>
            <a:srgbClr val="000000">
              <a:alpha val="8000"/>
            </a:srgbClr>
          </a:solidFill>
          <a:ln/>
        </p:spPr>
      </p:sp>
      <p:sp>
        <p:nvSpPr>
          <p:cNvPr id="9" name="Text 7"/>
          <p:cNvSpPr/>
          <p:nvPr/>
        </p:nvSpPr>
        <p:spPr>
          <a:xfrm>
            <a:off x="856931" y="2665512"/>
            <a:ext cx="4027982" cy="302419"/>
          </a:xfrm>
          <a:prstGeom prst="rect">
            <a:avLst/>
          </a:prstGeom>
          <a:noFill/>
          <a:ln/>
        </p:spPr>
        <p:txBody>
          <a:bodyPr wrap="none" lIns="0" tIns="0" rIns="0" bIns="0" rtlCol="0" anchor="t"/>
          <a:lstStyle/>
          <a:p>
            <a:pPr marL="0" indent="0" algn="l">
              <a:lnSpc>
                <a:spcPct val="133000"/>
              </a:lnSpc>
              <a:buNone/>
            </a:pPr>
            <a:r>
              <a:rPr lang="en-US" sz="1450" dirty="0">
                <a:solidFill>
                  <a:srgbClr val="464646"/>
                </a:solidFill>
                <a:latin typeface="Inter Medium" pitchFamily="34" charset="0"/>
                <a:ea typeface="Inter Medium" pitchFamily="34" charset="-122"/>
                <a:cs typeface="Inter Medium" pitchFamily="34" charset="-120"/>
              </a:rPr>
              <a:t>Hardware</a:t>
            </a:r>
            <a:endParaRPr lang="en-US" sz="1450" dirty="0"/>
          </a:p>
        </p:txBody>
      </p:sp>
      <p:sp>
        <p:nvSpPr>
          <p:cNvPr id="10" name="Text 8"/>
          <p:cNvSpPr/>
          <p:nvPr/>
        </p:nvSpPr>
        <p:spPr>
          <a:xfrm>
            <a:off x="4659692" y="2665512"/>
            <a:ext cx="7284756" cy="302419"/>
          </a:xfrm>
          <a:prstGeom prst="rect">
            <a:avLst/>
          </a:prstGeom>
          <a:noFill/>
          <a:ln/>
        </p:spPr>
        <p:txBody>
          <a:bodyPr wrap="none" lIns="0" tIns="0" rIns="0" bIns="0" rtlCol="0" anchor="t"/>
          <a:lstStyle/>
          <a:p>
            <a:pPr marL="0" indent="0" algn="l">
              <a:lnSpc>
                <a:spcPct val="133000"/>
              </a:lnSpc>
              <a:buNone/>
            </a:pPr>
            <a:r>
              <a:rPr lang="en-US" sz="1450" dirty="0">
                <a:solidFill>
                  <a:srgbClr val="464646"/>
                </a:solidFill>
                <a:latin typeface="Inter Medium" pitchFamily="34" charset="0"/>
                <a:ea typeface="Inter Medium" pitchFamily="34" charset="-122"/>
                <a:cs typeface="Inter Medium" pitchFamily="34" charset="-120"/>
              </a:rPr>
              <a:t>Purpose</a:t>
            </a:r>
            <a:endParaRPr lang="en-US" sz="1450" dirty="0"/>
          </a:p>
        </p:txBody>
      </p:sp>
      <p:sp>
        <p:nvSpPr>
          <p:cNvPr id="11" name="Text 9"/>
          <p:cNvSpPr/>
          <p:nvPr/>
        </p:nvSpPr>
        <p:spPr>
          <a:xfrm>
            <a:off x="856931" y="3213795"/>
            <a:ext cx="4027982" cy="302419"/>
          </a:xfrm>
          <a:prstGeom prst="rect">
            <a:avLst/>
          </a:prstGeom>
          <a:noFill/>
          <a:ln/>
        </p:spPr>
        <p:txBody>
          <a:bodyPr wrap="none" lIns="0" tIns="0" rIns="0" bIns="0" rtlCol="0" anchor="t"/>
          <a:lstStyle/>
          <a:p>
            <a:pPr marL="0" indent="0" algn="l">
              <a:lnSpc>
                <a:spcPct val="133000"/>
              </a:lnSpc>
              <a:buNone/>
            </a:pPr>
            <a:r>
              <a:rPr lang="en-US" sz="1450" dirty="0">
                <a:solidFill>
                  <a:srgbClr val="464646"/>
                </a:solidFill>
                <a:latin typeface="Inter Medium" pitchFamily="34" charset="0"/>
                <a:ea typeface="Inter Medium" pitchFamily="34" charset="-122"/>
                <a:cs typeface="Inter Medium" pitchFamily="34" charset="-120"/>
              </a:rPr>
              <a:t>Laptop / PC</a:t>
            </a:r>
            <a:endParaRPr lang="en-US" sz="1450" dirty="0"/>
          </a:p>
        </p:txBody>
      </p:sp>
      <p:sp>
        <p:nvSpPr>
          <p:cNvPr id="12" name="Text 10"/>
          <p:cNvSpPr/>
          <p:nvPr/>
        </p:nvSpPr>
        <p:spPr>
          <a:xfrm>
            <a:off x="4659692" y="3213795"/>
            <a:ext cx="7284756" cy="302419"/>
          </a:xfrm>
          <a:prstGeom prst="rect">
            <a:avLst/>
          </a:prstGeom>
          <a:noFill/>
          <a:ln/>
        </p:spPr>
        <p:txBody>
          <a:bodyPr wrap="none" lIns="0" tIns="0" rIns="0" bIns="0" rtlCol="0" anchor="t"/>
          <a:lstStyle/>
          <a:p>
            <a:pPr marL="0" indent="0" algn="l">
              <a:lnSpc>
                <a:spcPct val="133000"/>
              </a:lnSpc>
              <a:buNone/>
            </a:pPr>
            <a:r>
              <a:rPr lang="en-US" sz="1450" dirty="0">
                <a:solidFill>
                  <a:srgbClr val="464646"/>
                </a:solidFill>
                <a:latin typeface="Inter Medium" pitchFamily="34" charset="0"/>
                <a:ea typeface="Inter Medium" pitchFamily="34" charset="-122"/>
                <a:cs typeface="Inter Medium" pitchFamily="34" charset="-120"/>
              </a:rPr>
              <a:t>Processing and application execution</a:t>
            </a:r>
            <a:endParaRPr lang="en-US" sz="1450" dirty="0"/>
          </a:p>
        </p:txBody>
      </p:sp>
      <p:sp>
        <p:nvSpPr>
          <p:cNvPr id="13" name="Text 11"/>
          <p:cNvSpPr/>
          <p:nvPr/>
        </p:nvSpPr>
        <p:spPr>
          <a:xfrm>
            <a:off x="856931" y="3762077"/>
            <a:ext cx="4027982" cy="302419"/>
          </a:xfrm>
          <a:prstGeom prst="rect">
            <a:avLst/>
          </a:prstGeom>
          <a:noFill/>
          <a:ln/>
        </p:spPr>
        <p:txBody>
          <a:bodyPr wrap="none" lIns="0" tIns="0" rIns="0" bIns="0" rtlCol="0" anchor="t"/>
          <a:lstStyle/>
          <a:p>
            <a:pPr marL="0" indent="0" algn="l">
              <a:lnSpc>
                <a:spcPct val="133000"/>
              </a:lnSpc>
              <a:buNone/>
            </a:pPr>
            <a:r>
              <a:rPr lang="en-US" sz="1450" dirty="0">
                <a:solidFill>
                  <a:srgbClr val="464646"/>
                </a:solidFill>
                <a:latin typeface="Inter Medium" pitchFamily="34" charset="0"/>
                <a:ea typeface="Inter Medium" pitchFamily="34" charset="-122"/>
                <a:cs typeface="Inter Medium" pitchFamily="34" charset="-120"/>
              </a:rPr>
              <a:t>Webcam</a:t>
            </a:r>
            <a:endParaRPr lang="en-US" sz="1450" dirty="0"/>
          </a:p>
        </p:txBody>
      </p:sp>
      <p:sp>
        <p:nvSpPr>
          <p:cNvPr id="14" name="Text 12"/>
          <p:cNvSpPr/>
          <p:nvPr/>
        </p:nvSpPr>
        <p:spPr>
          <a:xfrm>
            <a:off x="4659692" y="3762077"/>
            <a:ext cx="7284756" cy="302419"/>
          </a:xfrm>
          <a:prstGeom prst="rect">
            <a:avLst/>
          </a:prstGeom>
          <a:noFill/>
          <a:ln/>
        </p:spPr>
        <p:txBody>
          <a:bodyPr wrap="none" lIns="0" tIns="0" rIns="0" bIns="0" rtlCol="0" anchor="t"/>
          <a:lstStyle/>
          <a:p>
            <a:pPr marL="0" indent="0" algn="l">
              <a:lnSpc>
                <a:spcPct val="133000"/>
              </a:lnSpc>
              <a:buNone/>
            </a:pPr>
            <a:r>
              <a:rPr lang="en-US" sz="1450" dirty="0">
                <a:solidFill>
                  <a:srgbClr val="464646"/>
                </a:solidFill>
                <a:latin typeface="Inter Medium" pitchFamily="34" charset="0"/>
                <a:ea typeface="Inter Medium" pitchFamily="34" charset="-122"/>
                <a:cs typeface="Inter Medium" pitchFamily="34" charset="-120"/>
              </a:rPr>
              <a:t>Real-time gesture capture</a:t>
            </a:r>
            <a:endParaRPr lang="en-US" sz="1450" dirty="0"/>
          </a:p>
        </p:txBody>
      </p:sp>
      <p:sp>
        <p:nvSpPr>
          <p:cNvPr id="15" name="Text 13"/>
          <p:cNvSpPr/>
          <p:nvPr/>
        </p:nvSpPr>
        <p:spPr>
          <a:xfrm>
            <a:off x="856931" y="4310360"/>
            <a:ext cx="4027982" cy="302419"/>
          </a:xfrm>
          <a:prstGeom prst="rect">
            <a:avLst/>
          </a:prstGeom>
          <a:noFill/>
          <a:ln/>
        </p:spPr>
        <p:txBody>
          <a:bodyPr wrap="none" lIns="0" tIns="0" rIns="0" bIns="0" rtlCol="0" anchor="t"/>
          <a:lstStyle/>
          <a:p>
            <a:pPr marL="0" indent="0" algn="l">
              <a:lnSpc>
                <a:spcPct val="133000"/>
              </a:lnSpc>
              <a:buNone/>
            </a:pPr>
            <a:r>
              <a:rPr lang="en-US" sz="1450" dirty="0">
                <a:solidFill>
                  <a:srgbClr val="464646"/>
                </a:solidFill>
                <a:latin typeface="Inter Medium" pitchFamily="34" charset="0"/>
                <a:ea typeface="Inter Medium" pitchFamily="34" charset="-122"/>
                <a:cs typeface="Inter Medium" pitchFamily="34" charset="-120"/>
              </a:rPr>
              <a:t>Microphone</a:t>
            </a:r>
            <a:endParaRPr lang="en-US" sz="1450" dirty="0"/>
          </a:p>
        </p:txBody>
      </p:sp>
      <p:sp>
        <p:nvSpPr>
          <p:cNvPr id="16" name="Text 14"/>
          <p:cNvSpPr/>
          <p:nvPr/>
        </p:nvSpPr>
        <p:spPr>
          <a:xfrm>
            <a:off x="4659692" y="4310360"/>
            <a:ext cx="7284756" cy="302419"/>
          </a:xfrm>
          <a:prstGeom prst="rect">
            <a:avLst/>
          </a:prstGeom>
          <a:noFill/>
          <a:ln/>
        </p:spPr>
        <p:txBody>
          <a:bodyPr wrap="none" lIns="0" tIns="0" rIns="0" bIns="0" rtlCol="0" anchor="t"/>
          <a:lstStyle/>
          <a:p>
            <a:pPr marL="0" indent="0" algn="l">
              <a:lnSpc>
                <a:spcPct val="133000"/>
              </a:lnSpc>
              <a:buNone/>
            </a:pPr>
            <a:r>
              <a:rPr lang="en-US" sz="1450" dirty="0">
                <a:solidFill>
                  <a:srgbClr val="464646"/>
                </a:solidFill>
                <a:latin typeface="Inter Medium" pitchFamily="34" charset="0"/>
                <a:ea typeface="Inter Medium" pitchFamily="34" charset="-122"/>
                <a:cs typeface="Inter Medium" pitchFamily="34" charset="-120"/>
              </a:rPr>
              <a:t>Audio input</a:t>
            </a:r>
            <a:endParaRPr lang="en-US" sz="1450" dirty="0"/>
          </a:p>
        </p:txBody>
      </p:sp>
      <p:sp>
        <p:nvSpPr>
          <p:cNvPr id="17" name="Text 15"/>
          <p:cNvSpPr/>
          <p:nvPr/>
        </p:nvSpPr>
        <p:spPr>
          <a:xfrm>
            <a:off x="856931" y="4858643"/>
            <a:ext cx="4027982" cy="302419"/>
          </a:xfrm>
          <a:prstGeom prst="rect">
            <a:avLst/>
          </a:prstGeom>
          <a:noFill/>
          <a:ln/>
        </p:spPr>
        <p:txBody>
          <a:bodyPr wrap="none" lIns="0" tIns="0" rIns="0" bIns="0" rtlCol="0" anchor="t"/>
          <a:lstStyle/>
          <a:p>
            <a:pPr marL="0" indent="0" algn="l">
              <a:lnSpc>
                <a:spcPct val="133000"/>
              </a:lnSpc>
              <a:buNone/>
            </a:pPr>
            <a:r>
              <a:rPr lang="en-US" sz="1450" dirty="0">
                <a:solidFill>
                  <a:srgbClr val="464646"/>
                </a:solidFill>
                <a:latin typeface="Inter Medium" pitchFamily="34" charset="0"/>
                <a:ea typeface="Inter Medium" pitchFamily="34" charset="-122"/>
                <a:cs typeface="Inter Medium" pitchFamily="34" charset="-120"/>
              </a:rPr>
              <a:t>Speaker</a:t>
            </a:r>
            <a:endParaRPr lang="en-US" sz="1450" dirty="0"/>
          </a:p>
        </p:txBody>
      </p:sp>
      <p:sp>
        <p:nvSpPr>
          <p:cNvPr id="18" name="Text 16"/>
          <p:cNvSpPr/>
          <p:nvPr/>
        </p:nvSpPr>
        <p:spPr>
          <a:xfrm>
            <a:off x="4659692" y="4858643"/>
            <a:ext cx="7284756" cy="302419"/>
          </a:xfrm>
          <a:prstGeom prst="rect">
            <a:avLst/>
          </a:prstGeom>
          <a:noFill/>
          <a:ln/>
        </p:spPr>
        <p:txBody>
          <a:bodyPr wrap="none" lIns="0" tIns="0" rIns="0" bIns="0" rtlCol="0" anchor="t"/>
          <a:lstStyle/>
          <a:p>
            <a:pPr marL="0" indent="0" algn="l">
              <a:lnSpc>
                <a:spcPct val="133000"/>
              </a:lnSpc>
              <a:buNone/>
            </a:pPr>
            <a:r>
              <a:rPr lang="en-US" sz="1450" dirty="0">
                <a:solidFill>
                  <a:srgbClr val="464646"/>
                </a:solidFill>
                <a:latin typeface="Inter Medium" pitchFamily="34" charset="0"/>
                <a:ea typeface="Inter Medium" pitchFamily="34" charset="-122"/>
                <a:cs typeface="Inter Medium" pitchFamily="34" charset="-120"/>
              </a:rPr>
              <a:t>Speech output</a:t>
            </a:r>
            <a:endParaRPr lang="en-US" sz="1450" dirty="0"/>
          </a:p>
        </p:txBody>
      </p:sp>
      <mc:AlternateContent xmlns:mc="http://schemas.openxmlformats.org/markup-compatibility/2006" xmlns:p14="http://schemas.microsoft.com/office/powerpoint/2010/main">
        <mc:Choice Requires="p14">
          <p:contentPart p14:bwMode="auto" r:id="rId3">
            <p14:nvContentPartPr>
              <p14:cNvPr id="19" name="Ink 18">
                <a:extLst>
                  <a:ext uri="{FF2B5EF4-FFF2-40B4-BE49-F238E27FC236}">
                    <a16:creationId xmlns:a16="http://schemas.microsoft.com/office/drawing/2014/main" id="{C5AD11C9-E2FF-9E83-4703-9CF5C2F96119}"/>
                  </a:ext>
                </a:extLst>
              </p14:cNvPr>
              <p14:cNvContentPartPr/>
              <p14:nvPr/>
            </p14:nvContentPartPr>
            <p14:xfrm>
              <a:off x="11060030" y="6607033"/>
              <a:ext cx="1018080" cy="32400"/>
            </p14:xfrm>
          </p:contentPart>
        </mc:Choice>
        <mc:Fallback xmlns="">
          <p:pic>
            <p:nvPicPr>
              <p:cNvPr id="19" name="Ink 18">
                <a:extLst>
                  <a:ext uri="{FF2B5EF4-FFF2-40B4-BE49-F238E27FC236}">
                    <a16:creationId xmlns:a16="http://schemas.microsoft.com/office/drawing/2014/main" id="{C5AD11C9-E2FF-9E83-4703-9CF5C2F96119}"/>
                  </a:ext>
                </a:extLst>
              </p:cNvPr>
              <p:cNvPicPr/>
              <p:nvPr/>
            </p:nvPicPr>
            <p:blipFill>
              <a:blip r:embed="rId4"/>
              <a:stretch>
                <a:fillRect/>
              </a:stretch>
            </p:blipFill>
            <p:spPr>
              <a:xfrm>
                <a:off x="10997390" y="6544393"/>
                <a:ext cx="1143720" cy="1580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3" name="Ink 22">
                <a:extLst>
                  <a:ext uri="{FF2B5EF4-FFF2-40B4-BE49-F238E27FC236}">
                    <a16:creationId xmlns:a16="http://schemas.microsoft.com/office/drawing/2014/main" id="{EDDEB2AC-3BEF-0B10-CAE8-112217263AD2}"/>
                  </a:ext>
                </a:extLst>
              </p14:cNvPr>
              <p14:cNvContentPartPr/>
              <p14:nvPr/>
            </p14:nvContentPartPr>
            <p14:xfrm>
              <a:off x="11163350" y="6734473"/>
              <a:ext cx="898920" cy="24120"/>
            </p14:xfrm>
          </p:contentPart>
        </mc:Choice>
        <mc:Fallback xmlns="">
          <p:pic>
            <p:nvPicPr>
              <p:cNvPr id="23" name="Ink 22">
                <a:extLst>
                  <a:ext uri="{FF2B5EF4-FFF2-40B4-BE49-F238E27FC236}">
                    <a16:creationId xmlns:a16="http://schemas.microsoft.com/office/drawing/2014/main" id="{EDDEB2AC-3BEF-0B10-CAE8-112217263AD2}"/>
                  </a:ext>
                </a:extLst>
              </p:cNvPr>
              <p:cNvPicPr/>
              <p:nvPr/>
            </p:nvPicPr>
            <p:blipFill>
              <a:blip r:embed="rId6"/>
              <a:stretch>
                <a:fillRect/>
              </a:stretch>
            </p:blipFill>
            <p:spPr>
              <a:xfrm>
                <a:off x="11100350" y="6671473"/>
                <a:ext cx="1024560" cy="149760"/>
              </a:xfrm>
              <a:prstGeom prst="rect">
                <a:avLst/>
              </a:prstGeom>
            </p:spPr>
          </p:pic>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798215"/>
            <a:ext cx="10868745" cy="531614"/>
          </a:xfrm>
          <a:prstGeom prst="rect">
            <a:avLst/>
          </a:prstGeom>
          <a:noFill/>
          <a:ln/>
        </p:spPr>
        <p:txBody>
          <a:bodyPr wrap="none" lIns="0" tIns="0" rIns="0" bIns="0" rtlCol="0" anchor="t"/>
          <a:lstStyle/>
          <a:p>
            <a:pPr marL="0" indent="0" algn="l">
              <a:lnSpc>
                <a:spcPct val="104000"/>
              </a:lnSpc>
              <a:buNone/>
            </a:pPr>
            <a:endParaRPr lang="en-US" sz="3300" dirty="0"/>
          </a:p>
        </p:txBody>
      </p:sp>
      <p:sp>
        <p:nvSpPr>
          <p:cNvPr id="4" name="Text 1"/>
          <p:cNvSpPr/>
          <p:nvPr/>
        </p:nvSpPr>
        <p:spPr>
          <a:xfrm>
            <a:off x="1426496" y="4642969"/>
            <a:ext cx="1412781" cy="176602"/>
          </a:xfrm>
          <a:prstGeom prst="rect">
            <a:avLst/>
          </a:prstGeom>
          <a:noFill/>
          <a:ln/>
        </p:spPr>
        <p:txBody>
          <a:bodyPr wrap="none" lIns="0" tIns="0" rIns="0" bIns="0" rtlCol="0" anchor="t"/>
          <a:lstStyle/>
          <a:p>
            <a:pPr marL="0" indent="0" algn="l">
              <a:lnSpc>
                <a:spcPct val="104000"/>
              </a:lnSpc>
              <a:buNone/>
            </a:pPr>
            <a:r>
              <a:rPr lang="en-US" sz="1100" dirty="0">
                <a:solidFill>
                  <a:srgbClr val="FFFFFF"/>
                </a:solidFill>
                <a:latin typeface="DM Sans SemiBold" pitchFamily="34" charset="0"/>
                <a:ea typeface="DM Sans SemiBold" pitchFamily="34" charset="-122"/>
                <a:cs typeface="DM Sans SemiBold" pitchFamily="34" charset="-120"/>
              </a:rPr>
              <a:t>Classify &amp; Output</a:t>
            </a:r>
            <a:endParaRPr lang="en-US" sz="1100" dirty="0"/>
          </a:p>
        </p:txBody>
      </p:sp>
      <p:sp>
        <p:nvSpPr>
          <p:cNvPr id="5" name="Text 2"/>
          <p:cNvSpPr/>
          <p:nvPr/>
        </p:nvSpPr>
        <p:spPr>
          <a:xfrm>
            <a:off x="1426496" y="4021329"/>
            <a:ext cx="1412781" cy="176602"/>
          </a:xfrm>
          <a:prstGeom prst="rect">
            <a:avLst/>
          </a:prstGeom>
          <a:noFill/>
          <a:ln/>
        </p:spPr>
        <p:txBody>
          <a:bodyPr wrap="none" lIns="0" tIns="0" rIns="0" bIns="0" rtlCol="0" anchor="t"/>
          <a:lstStyle/>
          <a:p>
            <a:pPr marL="0" indent="0" algn="l">
              <a:lnSpc>
                <a:spcPct val="104000"/>
              </a:lnSpc>
              <a:buNone/>
            </a:pPr>
            <a:r>
              <a:rPr lang="en-US" sz="1100" dirty="0">
                <a:solidFill>
                  <a:srgbClr val="FFFFFF"/>
                </a:solidFill>
                <a:latin typeface="DM Sans SemiBold" pitchFamily="34" charset="0"/>
                <a:ea typeface="DM Sans SemiBold" pitchFamily="34" charset="-122"/>
                <a:cs typeface="DM Sans SemiBold" pitchFamily="34" charset="-120"/>
              </a:rPr>
              <a:t>Detect Hand</a:t>
            </a:r>
            <a:endParaRPr lang="en-US" sz="1100" dirty="0"/>
          </a:p>
        </p:txBody>
      </p:sp>
      <p:sp>
        <p:nvSpPr>
          <p:cNvPr id="6" name="Text 3"/>
          <p:cNvSpPr/>
          <p:nvPr/>
        </p:nvSpPr>
        <p:spPr>
          <a:xfrm>
            <a:off x="1426496" y="3405969"/>
            <a:ext cx="1412781" cy="176602"/>
          </a:xfrm>
          <a:prstGeom prst="rect">
            <a:avLst/>
          </a:prstGeom>
          <a:noFill/>
          <a:ln/>
        </p:spPr>
        <p:txBody>
          <a:bodyPr wrap="none" lIns="0" tIns="0" rIns="0" bIns="0" rtlCol="0" anchor="t"/>
          <a:lstStyle/>
          <a:p>
            <a:pPr marL="0" indent="0" algn="l">
              <a:lnSpc>
                <a:spcPct val="104000"/>
              </a:lnSpc>
              <a:buNone/>
            </a:pPr>
            <a:r>
              <a:rPr lang="en-US" sz="1100" dirty="0">
                <a:solidFill>
                  <a:srgbClr val="FFFFFF"/>
                </a:solidFill>
                <a:latin typeface="DM Sans SemiBold" pitchFamily="34" charset="0"/>
                <a:ea typeface="DM Sans SemiBold" pitchFamily="34" charset="-122"/>
                <a:cs typeface="DM Sans SemiBold" pitchFamily="34" charset="-120"/>
              </a:rPr>
              <a:t>Preprocess Frame</a:t>
            </a:r>
            <a:endParaRPr lang="en-US" sz="1100" dirty="0"/>
          </a:p>
        </p:txBody>
      </p:sp>
      <p:sp>
        <p:nvSpPr>
          <p:cNvPr id="7" name="Text 4"/>
          <p:cNvSpPr/>
          <p:nvPr/>
        </p:nvSpPr>
        <p:spPr>
          <a:xfrm>
            <a:off x="1426496" y="2784329"/>
            <a:ext cx="1412781" cy="176602"/>
          </a:xfrm>
          <a:prstGeom prst="rect">
            <a:avLst/>
          </a:prstGeom>
          <a:noFill/>
          <a:ln/>
        </p:spPr>
        <p:txBody>
          <a:bodyPr wrap="none" lIns="0" tIns="0" rIns="0" bIns="0" rtlCol="0" anchor="t"/>
          <a:lstStyle/>
          <a:p>
            <a:pPr marL="0" indent="0" algn="l">
              <a:lnSpc>
                <a:spcPct val="104000"/>
              </a:lnSpc>
              <a:buNone/>
            </a:pPr>
            <a:r>
              <a:rPr lang="en-US" sz="1100" dirty="0">
                <a:solidFill>
                  <a:srgbClr val="FFFFFF"/>
                </a:solidFill>
                <a:latin typeface="DM Sans SemiBold" pitchFamily="34" charset="0"/>
                <a:ea typeface="DM Sans SemiBold" pitchFamily="34" charset="-122"/>
                <a:cs typeface="DM Sans SemiBold" pitchFamily="34" charset="-120"/>
              </a:rPr>
              <a:t>Capture Gesture</a:t>
            </a:r>
            <a:endParaRPr lang="en-US" sz="1100" dirty="0"/>
          </a:p>
        </p:txBody>
      </p:sp>
      <p:pic>
        <p:nvPicPr>
          <p:cNvPr id="8" name="Picture 7">
            <a:extLst>
              <a:ext uri="{FF2B5EF4-FFF2-40B4-BE49-F238E27FC236}">
                <a16:creationId xmlns:a16="http://schemas.microsoft.com/office/drawing/2014/main" id="{714C4D9D-A7C5-5E46-AEBC-604625BD94C6}"/>
              </a:ext>
            </a:extLst>
          </p:cNvPr>
          <p:cNvPicPr>
            <a:picLocks noChangeAspect="1"/>
          </p:cNvPicPr>
          <p:nvPr/>
        </p:nvPicPr>
        <p:blipFill>
          <a:blip r:embed="rId3"/>
          <a:stretch>
            <a:fillRect/>
          </a:stretch>
        </p:blipFill>
        <p:spPr>
          <a:xfrm>
            <a:off x="-89387" y="0"/>
            <a:ext cx="12450412" cy="690214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271</TotalTime>
  <Words>521</Words>
  <Application>Microsoft Office PowerPoint</Application>
  <PresentationFormat>Widescreen</PresentationFormat>
  <Paragraphs>88</Paragraphs>
  <Slides>8</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DM Sans Light</vt:lpstr>
      <vt:lpstr>Inter Medium</vt:lpstr>
      <vt:lpstr>Arial</vt:lpstr>
      <vt:lpstr>DM Sans SemiBold</vt:lpstr>
      <vt:lpstr>Inter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devaji rashmika</cp:lastModifiedBy>
  <cp:revision>9</cp:revision>
  <dcterms:created xsi:type="dcterms:W3CDTF">2026-08-26T03:20:21Z</dcterms:created>
  <dcterms:modified xsi:type="dcterms:W3CDTF">2026-10-02T11:40:25Z</dcterms:modified>
</cp:coreProperties>
</file>